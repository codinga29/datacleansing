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53F"/>
        </a:solidFill>
        <a:effectLst/>
      </p:bgPr>
    </p:bg>
    <p:spTree>
      <p:nvGrpSpPr>
        <p:cNvPr id="1" name=""/>
        <p:cNvGrpSpPr/>
        <p:nvPr/>
      </p:nvGrpSpPr>
      <p:grpSpPr/>
      <p:sp>
        <p:nvSpPr>
          <p:cNvPr id="2" name="Rectangle 1"/>
          <p:cNvSpPr/>
          <p:nvPr/>
        </p:nvSpPr>
        <p:spPr>
          <a:xfrm>
            <a:off x="658368" y="987552"/>
            <a:ext cx="109728" cy="4434840"/>
          </a:xfrm>
          <a:prstGeom prst="rect">
            <a:avLst/>
          </a:prstGeom>
          <a:solidFill>
            <a:srgbClr val="3EA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1143000"/>
            <a:ext cx="10058400" cy="1463040"/>
          </a:xfrm>
          <a:prstGeom prst="rect">
            <a:avLst/>
          </a:prstGeom>
          <a:noFill/>
        </p:spPr>
        <p:txBody>
          <a:bodyPr wrap="none">
            <a:spAutoFit/>
          </a:bodyPr>
          <a:lstStyle/>
          <a:p>
            <a:pPr>
              <a:defRPr sz="3400" b="1">
                <a:solidFill>
                  <a:srgbClr val="FFFFFF"/>
                </a:solidFill>
                <a:latin typeface="Aptos Display"/>
              </a:defRPr>
            </a:pPr>
            <a:r>
              <a:t>PROSES DATA CLEANSING</a:t>
            </a:r>
          </a:p>
          <a:p>
            <a:pPr>
              <a:defRPr sz="2800">
                <a:solidFill>
                  <a:srgbClr val="C9DCF1"/>
                </a:solidFill>
                <a:latin typeface="Aptos Display"/>
              </a:defRPr>
            </a:pPr>
            <a:r>
              <a:t>Dataset Pasien Rumah Sakit</a:t>
            </a:r>
          </a:p>
        </p:txBody>
      </p:sp>
      <p:sp>
        <p:nvSpPr>
          <p:cNvPr id="4" name="TextBox 3"/>
          <p:cNvSpPr txBox="1"/>
          <p:nvPr/>
        </p:nvSpPr>
        <p:spPr>
          <a:xfrm>
            <a:off x="1051560" y="3154680"/>
            <a:ext cx="6858000" cy="1508760"/>
          </a:xfrm>
          <a:prstGeom prst="rect">
            <a:avLst/>
          </a:prstGeom>
          <a:noFill/>
        </p:spPr>
        <p:txBody>
          <a:bodyPr wrap="none">
            <a:spAutoFit/>
          </a:bodyPr>
          <a:lstStyle/>
          <a:p>
            <a:pPr>
              <a:defRPr sz="2100" b="1">
                <a:solidFill>
                  <a:srgbClr val="FFFFFF"/>
                </a:solidFill>
                <a:latin typeface="Aptos"/>
              </a:defRPr>
            </a:pPr>
            <a:r>
              <a:t>Angga Putra Dwi Dharmawan</a:t>
            </a:r>
          </a:p>
          <a:p>
            <a:pPr>
              <a:defRPr sz="1700">
                <a:solidFill>
                  <a:srgbClr val="FFFFFF"/>
                </a:solidFill>
                <a:latin typeface="Aptos"/>
              </a:defRPr>
            </a:pPr>
            <a:r>
              <a:t>NIM 2318028</a:t>
            </a:r>
          </a:p>
          <a:p>
            <a:pPr>
              <a:defRPr sz="1700">
                <a:solidFill>
                  <a:srgbClr val="FFFFFF"/>
                </a:solidFill>
                <a:latin typeface="Aptos"/>
              </a:defRPr>
            </a:pPr>
            <a:r>
              <a:t>Kelas A</a:t>
            </a:r>
          </a:p>
        </p:txBody>
      </p:sp>
      <p:sp>
        <p:nvSpPr>
          <p:cNvPr id="5" name="TextBox 4"/>
          <p:cNvSpPr txBox="1"/>
          <p:nvPr/>
        </p:nvSpPr>
        <p:spPr>
          <a:xfrm>
            <a:off x="1051560" y="5989320"/>
            <a:ext cx="9144000" cy="320040"/>
          </a:xfrm>
          <a:prstGeom prst="rect">
            <a:avLst/>
          </a:prstGeom>
          <a:noFill/>
        </p:spPr>
        <p:txBody>
          <a:bodyPr wrap="none">
            <a:spAutoFit/>
          </a:bodyPr>
          <a:lstStyle/>
          <a:p>
            <a:pPr>
              <a:defRPr sz="1300">
                <a:solidFill>
                  <a:srgbClr val="BCCFE3"/>
                </a:solidFill>
                <a:latin typeface="Aptos"/>
              </a:defRPr>
            </a:pPr>
            <a:r>
              <a:t>Implementasi menggunakan Google Colab, Google Drive, Python, dan Pandas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789920" cy="411480"/>
          </a:xfrm>
          <a:prstGeom prst="rect">
            <a:avLst/>
          </a:prstGeom>
          <a:noFill/>
        </p:spPr>
        <p:txBody>
          <a:bodyPr wrap="none">
            <a:spAutoFit/>
          </a:bodyPr>
          <a:lstStyle/>
          <a:p>
            <a:pPr>
              <a:defRPr sz="2400" b="1">
                <a:solidFill>
                  <a:srgbClr val="FFFFFF"/>
                </a:solidFill>
                <a:latin typeface="Aptos Display"/>
              </a:defRPr>
            </a:pPr>
            <a:r>
              <a:t>1. Menghubungkan Dataset dari Google Drive</a:t>
            </a:r>
          </a:p>
        </p:txBody>
      </p:sp>
      <p:sp>
        <p:nvSpPr>
          <p:cNvPr id="4" name="TextBox 3"/>
          <p:cNvSpPr txBox="1"/>
          <p:nvPr/>
        </p:nvSpPr>
        <p:spPr>
          <a:xfrm>
            <a:off x="11201400" y="146304"/>
            <a:ext cx="457200" cy="320040"/>
          </a:xfrm>
          <a:prstGeom prst="rect">
            <a:avLst/>
          </a:prstGeom>
          <a:noFill/>
        </p:spPr>
        <p:txBody>
          <a:bodyPr wrap="none">
            <a:spAutoFit/>
          </a:bodyPr>
          <a:lstStyle/>
          <a:p>
            <a:pPr algn="r">
              <a:defRPr sz="1200">
                <a:solidFill>
                  <a:srgbClr val="FFFFFF"/>
                </a:solidFill>
                <a:latin typeface="Aptos"/>
              </a:defRPr>
            </a:pPr>
            <a:r>
              <a:t>2</a:t>
            </a:r>
          </a:p>
        </p:txBody>
      </p:sp>
      <p:sp>
        <p:nvSpPr>
          <p:cNvPr id="5" name="Rounded Rectangle 4"/>
          <p:cNvSpPr/>
          <p:nvPr/>
        </p:nvSpPr>
        <p:spPr>
          <a:xfrm>
            <a:off x="438912" y="932688"/>
            <a:ext cx="7223760" cy="5468112"/>
          </a:xfrm>
          <a:prstGeom prst="roundRect">
            <a:avLst/>
          </a:prstGeom>
          <a:solidFill>
            <a:srgbClr val="1B1E22"/>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 2026-10-03 044013(1).png"/>
          <p:cNvPicPr>
            <a:picLocks noChangeAspect="1"/>
          </p:cNvPicPr>
          <p:nvPr/>
        </p:nvPicPr>
        <p:blipFill>
          <a:blip r:embed="rId2"/>
          <a:stretch>
            <a:fillRect/>
          </a:stretch>
        </p:blipFill>
        <p:spPr>
          <a:xfrm>
            <a:off x="548640" y="1123794"/>
            <a:ext cx="6995160" cy="5076754"/>
          </a:xfrm>
          <a:prstGeom prst="rect">
            <a:avLst/>
          </a:prstGeom>
        </p:spPr>
      </p:pic>
      <p:sp>
        <p:nvSpPr>
          <p:cNvPr id="7" name="Rounded Rectangle 6"/>
          <p:cNvSpPr/>
          <p:nvPr/>
        </p:nvSpPr>
        <p:spPr>
          <a:xfrm>
            <a:off x="7818120" y="932688"/>
            <a:ext cx="3913632" cy="5468112"/>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74152" y="1188720"/>
            <a:ext cx="3401568" cy="411480"/>
          </a:xfrm>
          <a:prstGeom prst="rect">
            <a:avLst/>
          </a:prstGeom>
          <a:noFill/>
        </p:spPr>
        <p:txBody>
          <a:bodyPr wrap="none">
            <a:spAutoFit/>
          </a:bodyPr>
          <a:lstStyle/>
          <a:p>
            <a:pPr>
              <a:defRPr sz="1900" b="1">
                <a:solidFill>
                  <a:srgbClr val="2C66B0"/>
                </a:solidFill>
                <a:latin typeface="Aptos"/>
              </a:defRPr>
            </a:pPr>
            <a:r>
              <a:t>Penjelasan</a:t>
            </a:r>
          </a:p>
        </p:txBody>
      </p:sp>
      <p:sp>
        <p:nvSpPr>
          <p:cNvPr id="9" name="TextBox 8"/>
          <p:cNvSpPr txBox="1"/>
          <p:nvPr/>
        </p:nvSpPr>
        <p:spPr>
          <a:xfrm>
            <a:off x="8074152" y="1773936"/>
            <a:ext cx="3401568" cy="4325112"/>
          </a:xfrm>
          <a:prstGeom prst="rect">
            <a:avLst/>
          </a:prstGeom>
          <a:noFill/>
        </p:spPr>
        <p:txBody>
          <a:bodyPr wrap="square">
            <a:spAutoFit/>
          </a:bodyPr>
          <a:lstStyle/>
          <a:p>
            <a:pPr>
              <a:defRPr sz="1500">
                <a:solidFill>
                  <a:srgbClr val="212A36"/>
                </a:solidFill>
                <a:latin typeface="Aptos"/>
              </a:defRPr>
            </a:pPr>
            <a:r>
              <a:t>Google Drive di-mount ke Google Colab menggunakan drive.mount('/content/drive'). Setelah terhubung, path file Excel ditentukan dan dataset pada sheet “Dataset Mentah” dibaca menggunakan pandas.read_excel(). Langkah ini membuat dataset dapat diproses langsung dari Drive tanpa upload manual berulang.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789920" cy="411480"/>
          </a:xfrm>
          <a:prstGeom prst="rect">
            <a:avLst/>
          </a:prstGeom>
          <a:noFill/>
        </p:spPr>
        <p:txBody>
          <a:bodyPr wrap="none">
            <a:spAutoFit/>
          </a:bodyPr>
          <a:lstStyle/>
          <a:p>
            <a:pPr>
              <a:defRPr sz="2400" b="1">
                <a:solidFill>
                  <a:srgbClr val="FFFFFF"/>
                </a:solidFill>
                <a:latin typeface="Aptos Display"/>
              </a:defRPr>
            </a:pPr>
            <a:r>
              <a:t>2. Pemeriksaan Awal Dataset</a:t>
            </a:r>
          </a:p>
        </p:txBody>
      </p:sp>
      <p:sp>
        <p:nvSpPr>
          <p:cNvPr id="4" name="TextBox 3"/>
          <p:cNvSpPr txBox="1"/>
          <p:nvPr/>
        </p:nvSpPr>
        <p:spPr>
          <a:xfrm>
            <a:off x="11201400" y="146304"/>
            <a:ext cx="457200" cy="320040"/>
          </a:xfrm>
          <a:prstGeom prst="rect">
            <a:avLst/>
          </a:prstGeom>
          <a:noFill/>
        </p:spPr>
        <p:txBody>
          <a:bodyPr wrap="none">
            <a:spAutoFit/>
          </a:bodyPr>
          <a:lstStyle/>
          <a:p>
            <a:pPr algn="r">
              <a:defRPr sz="1200">
                <a:solidFill>
                  <a:srgbClr val="FFFFFF"/>
                </a:solidFill>
                <a:latin typeface="Aptos"/>
              </a:defRPr>
            </a:pPr>
            <a:r>
              <a:t>3</a:t>
            </a:r>
          </a:p>
        </p:txBody>
      </p:sp>
      <p:sp>
        <p:nvSpPr>
          <p:cNvPr id="5" name="Rounded Rectangle 4"/>
          <p:cNvSpPr/>
          <p:nvPr/>
        </p:nvSpPr>
        <p:spPr>
          <a:xfrm>
            <a:off x="438912" y="932688"/>
            <a:ext cx="7223760" cy="5468112"/>
          </a:xfrm>
          <a:prstGeom prst="roundRect">
            <a:avLst/>
          </a:prstGeom>
          <a:solidFill>
            <a:srgbClr val="1B1E22"/>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 2026-10-03 044028(1).png"/>
          <p:cNvPicPr>
            <a:picLocks noChangeAspect="1"/>
          </p:cNvPicPr>
          <p:nvPr/>
        </p:nvPicPr>
        <p:blipFill>
          <a:blip r:embed="rId2"/>
          <a:stretch>
            <a:fillRect/>
          </a:stretch>
        </p:blipFill>
        <p:spPr>
          <a:xfrm>
            <a:off x="1472184" y="1033271"/>
            <a:ext cx="5148072" cy="5257800"/>
          </a:xfrm>
          <a:prstGeom prst="rect">
            <a:avLst/>
          </a:prstGeom>
        </p:spPr>
      </p:pic>
      <p:sp>
        <p:nvSpPr>
          <p:cNvPr id="7" name="Rounded Rectangle 6"/>
          <p:cNvSpPr/>
          <p:nvPr/>
        </p:nvSpPr>
        <p:spPr>
          <a:xfrm>
            <a:off x="7818120" y="932688"/>
            <a:ext cx="3913632" cy="5468112"/>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74152" y="1188720"/>
            <a:ext cx="3401568" cy="411480"/>
          </a:xfrm>
          <a:prstGeom prst="rect">
            <a:avLst/>
          </a:prstGeom>
          <a:noFill/>
        </p:spPr>
        <p:txBody>
          <a:bodyPr wrap="none">
            <a:spAutoFit/>
          </a:bodyPr>
          <a:lstStyle/>
          <a:p>
            <a:pPr>
              <a:defRPr sz="1900" b="1">
                <a:solidFill>
                  <a:srgbClr val="2C66B0"/>
                </a:solidFill>
                <a:latin typeface="Aptos"/>
              </a:defRPr>
            </a:pPr>
            <a:r>
              <a:t>Penjelasan</a:t>
            </a:r>
          </a:p>
        </p:txBody>
      </p:sp>
      <p:sp>
        <p:nvSpPr>
          <p:cNvPr id="9" name="TextBox 8"/>
          <p:cNvSpPr txBox="1"/>
          <p:nvPr/>
        </p:nvSpPr>
        <p:spPr>
          <a:xfrm>
            <a:off x="8074152" y="1773936"/>
            <a:ext cx="3401568" cy="4325112"/>
          </a:xfrm>
          <a:prstGeom prst="rect">
            <a:avLst/>
          </a:prstGeom>
          <a:noFill/>
        </p:spPr>
        <p:txBody>
          <a:bodyPr wrap="square">
            <a:spAutoFit/>
          </a:bodyPr>
          <a:lstStyle/>
          <a:p>
            <a:pPr>
              <a:defRPr sz="1500">
                <a:solidFill>
                  <a:srgbClr val="212A36"/>
                </a:solidFill>
                <a:latin typeface="Aptos"/>
              </a:defRPr>
            </a:pPr>
            <a:r>
              <a:t>df.shape menunjukkan dataset awal memiliki 30 baris dan 5 kolom. df.info() digunakan untuk memeriksa tipe data dan jumlah nilai non-null. Hasil awal menunjukkan kolom Umur dan Diagnosis masing-masing hanya memiliki 29 data non-null, sehingga terdapat missing value.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789920" cy="411480"/>
          </a:xfrm>
          <a:prstGeom prst="rect">
            <a:avLst/>
          </a:prstGeom>
          <a:noFill/>
        </p:spPr>
        <p:txBody>
          <a:bodyPr wrap="none">
            <a:spAutoFit/>
          </a:bodyPr>
          <a:lstStyle/>
          <a:p>
            <a:pPr>
              <a:defRPr sz="2400" b="1">
                <a:solidFill>
                  <a:srgbClr val="FFFFFF"/>
                </a:solidFill>
                <a:latin typeface="Aptos Display"/>
              </a:defRPr>
            </a:pPr>
            <a:r>
              <a:t>3. Deteksi Missing Value</a:t>
            </a:r>
          </a:p>
        </p:txBody>
      </p:sp>
      <p:sp>
        <p:nvSpPr>
          <p:cNvPr id="4" name="TextBox 3"/>
          <p:cNvSpPr txBox="1"/>
          <p:nvPr/>
        </p:nvSpPr>
        <p:spPr>
          <a:xfrm>
            <a:off x="11201400" y="146304"/>
            <a:ext cx="457200" cy="320040"/>
          </a:xfrm>
          <a:prstGeom prst="rect">
            <a:avLst/>
          </a:prstGeom>
          <a:noFill/>
        </p:spPr>
        <p:txBody>
          <a:bodyPr wrap="none">
            <a:spAutoFit/>
          </a:bodyPr>
          <a:lstStyle/>
          <a:p>
            <a:pPr algn="r">
              <a:defRPr sz="1200">
                <a:solidFill>
                  <a:srgbClr val="FFFFFF"/>
                </a:solidFill>
                <a:latin typeface="Aptos"/>
              </a:defRPr>
            </a:pPr>
            <a:r>
              <a:t>4</a:t>
            </a:r>
          </a:p>
        </p:txBody>
      </p:sp>
      <p:sp>
        <p:nvSpPr>
          <p:cNvPr id="5" name="Rounded Rectangle 4"/>
          <p:cNvSpPr/>
          <p:nvPr/>
        </p:nvSpPr>
        <p:spPr>
          <a:xfrm>
            <a:off x="438912" y="932688"/>
            <a:ext cx="7223760" cy="5468112"/>
          </a:xfrm>
          <a:prstGeom prst="roundRect">
            <a:avLst/>
          </a:prstGeom>
          <a:solidFill>
            <a:srgbClr val="1B1E22"/>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 2026-10-03 044054(1).png"/>
          <p:cNvPicPr>
            <a:picLocks noChangeAspect="1"/>
          </p:cNvPicPr>
          <p:nvPr/>
        </p:nvPicPr>
        <p:blipFill>
          <a:blip r:embed="rId2"/>
          <a:stretch>
            <a:fillRect/>
          </a:stretch>
        </p:blipFill>
        <p:spPr>
          <a:xfrm>
            <a:off x="548640" y="1077194"/>
            <a:ext cx="6995160" cy="5169955"/>
          </a:xfrm>
          <a:prstGeom prst="rect">
            <a:avLst/>
          </a:prstGeom>
        </p:spPr>
      </p:pic>
      <p:sp>
        <p:nvSpPr>
          <p:cNvPr id="7" name="Rounded Rectangle 6"/>
          <p:cNvSpPr/>
          <p:nvPr/>
        </p:nvSpPr>
        <p:spPr>
          <a:xfrm>
            <a:off x="7818120" y="932688"/>
            <a:ext cx="3913632" cy="5468112"/>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74152" y="1188720"/>
            <a:ext cx="3401568" cy="411480"/>
          </a:xfrm>
          <a:prstGeom prst="rect">
            <a:avLst/>
          </a:prstGeom>
          <a:noFill/>
        </p:spPr>
        <p:txBody>
          <a:bodyPr wrap="none">
            <a:spAutoFit/>
          </a:bodyPr>
          <a:lstStyle/>
          <a:p>
            <a:pPr>
              <a:defRPr sz="1900" b="1">
                <a:solidFill>
                  <a:srgbClr val="2C66B0"/>
                </a:solidFill>
                <a:latin typeface="Aptos"/>
              </a:defRPr>
            </a:pPr>
            <a:r>
              <a:t>Penjelasan</a:t>
            </a:r>
          </a:p>
        </p:txBody>
      </p:sp>
      <p:sp>
        <p:nvSpPr>
          <p:cNvPr id="9" name="TextBox 8"/>
          <p:cNvSpPr txBox="1"/>
          <p:nvPr/>
        </p:nvSpPr>
        <p:spPr>
          <a:xfrm>
            <a:off x="8074152" y="1773936"/>
            <a:ext cx="3401568" cy="4325112"/>
          </a:xfrm>
          <a:prstGeom prst="rect">
            <a:avLst/>
          </a:prstGeom>
          <a:noFill/>
        </p:spPr>
        <p:txBody>
          <a:bodyPr wrap="square">
            <a:spAutoFit/>
          </a:bodyPr>
          <a:lstStyle/>
          <a:p>
            <a:pPr>
              <a:defRPr sz="1500">
                <a:solidFill>
                  <a:srgbClr val="212A36"/>
                </a:solidFill>
                <a:latin typeface="Aptos"/>
              </a:defRPr>
            </a:pPr>
            <a:r>
              <a:t>Pemeriksaan menggunakan df.isnull().sum() menemukan 1 nilai kosong pada Umur dan 1 nilai kosong pada Diagnosis. Baris yang bermasalah kemudian ditampilkan: PS012 memiliki Umur kosong dan PS023 memiliki Diagnosis kosong.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789920" cy="411480"/>
          </a:xfrm>
          <a:prstGeom prst="rect">
            <a:avLst/>
          </a:prstGeom>
          <a:noFill/>
        </p:spPr>
        <p:txBody>
          <a:bodyPr wrap="none">
            <a:spAutoFit/>
          </a:bodyPr>
          <a:lstStyle/>
          <a:p>
            <a:pPr>
              <a:defRPr sz="2400" b="1">
                <a:solidFill>
                  <a:srgbClr val="FFFFFF"/>
                </a:solidFill>
                <a:latin typeface="Aptos Display"/>
              </a:defRPr>
            </a:pPr>
            <a:r>
              <a:t>4. Penanganan Missing Value</a:t>
            </a:r>
          </a:p>
        </p:txBody>
      </p:sp>
      <p:sp>
        <p:nvSpPr>
          <p:cNvPr id="4" name="TextBox 3"/>
          <p:cNvSpPr txBox="1"/>
          <p:nvPr/>
        </p:nvSpPr>
        <p:spPr>
          <a:xfrm>
            <a:off x="11201400" y="146304"/>
            <a:ext cx="457200" cy="320040"/>
          </a:xfrm>
          <a:prstGeom prst="rect">
            <a:avLst/>
          </a:prstGeom>
          <a:noFill/>
        </p:spPr>
        <p:txBody>
          <a:bodyPr wrap="none">
            <a:spAutoFit/>
          </a:bodyPr>
          <a:lstStyle/>
          <a:p>
            <a:pPr algn="r">
              <a:defRPr sz="1200">
                <a:solidFill>
                  <a:srgbClr val="FFFFFF"/>
                </a:solidFill>
                <a:latin typeface="Aptos"/>
              </a:defRPr>
            </a:pPr>
            <a:r>
              <a:t>5</a:t>
            </a:r>
          </a:p>
        </p:txBody>
      </p:sp>
      <p:sp>
        <p:nvSpPr>
          <p:cNvPr id="5" name="Rounded Rectangle 4"/>
          <p:cNvSpPr/>
          <p:nvPr/>
        </p:nvSpPr>
        <p:spPr>
          <a:xfrm>
            <a:off x="438912" y="932688"/>
            <a:ext cx="7223760" cy="5468112"/>
          </a:xfrm>
          <a:prstGeom prst="roundRect">
            <a:avLst/>
          </a:prstGeom>
          <a:solidFill>
            <a:srgbClr val="1B1E22"/>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 2026-10-03 044110(1).png"/>
          <p:cNvPicPr>
            <a:picLocks noChangeAspect="1"/>
          </p:cNvPicPr>
          <p:nvPr/>
        </p:nvPicPr>
        <p:blipFill>
          <a:blip r:embed="rId2"/>
          <a:stretch>
            <a:fillRect/>
          </a:stretch>
        </p:blipFill>
        <p:spPr>
          <a:xfrm>
            <a:off x="984935" y="1033271"/>
            <a:ext cx="6122569" cy="5257800"/>
          </a:xfrm>
          <a:prstGeom prst="rect">
            <a:avLst/>
          </a:prstGeom>
        </p:spPr>
      </p:pic>
      <p:sp>
        <p:nvSpPr>
          <p:cNvPr id="7" name="Rounded Rectangle 6"/>
          <p:cNvSpPr/>
          <p:nvPr/>
        </p:nvSpPr>
        <p:spPr>
          <a:xfrm>
            <a:off x="7818120" y="932688"/>
            <a:ext cx="3913632" cy="5468112"/>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74152" y="1188720"/>
            <a:ext cx="3401568" cy="411480"/>
          </a:xfrm>
          <a:prstGeom prst="rect">
            <a:avLst/>
          </a:prstGeom>
          <a:noFill/>
        </p:spPr>
        <p:txBody>
          <a:bodyPr wrap="none">
            <a:spAutoFit/>
          </a:bodyPr>
          <a:lstStyle/>
          <a:p>
            <a:pPr>
              <a:defRPr sz="1900" b="1">
                <a:solidFill>
                  <a:srgbClr val="2C66B0"/>
                </a:solidFill>
                <a:latin typeface="Aptos"/>
              </a:defRPr>
            </a:pPr>
            <a:r>
              <a:t>Penjelasan</a:t>
            </a:r>
          </a:p>
        </p:txBody>
      </p:sp>
      <p:sp>
        <p:nvSpPr>
          <p:cNvPr id="9" name="TextBox 8"/>
          <p:cNvSpPr txBox="1"/>
          <p:nvPr/>
        </p:nvSpPr>
        <p:spPr>
          <a:xfrm>
            <a:off x="8074152" y="1773936"/>
            <a:ext cx="3401568" cy="4325112"/>
          </a:xfrm>
          <a:prstGeom prst="rect">
            <a:avLst/>
          </a:prstGeom>
          <a:noFill/>
        </p:spPr>
        <p:txBody>
          <a:bodyPr wrap="square">
            <a:spAutoFit/>
          </a:bodyPr>
          <a:lstStyle/>
          <a:p>
            <a:pPr>
              <a:defRPr sz="1500">
                <a:solidFill>
                  <a:srgbClr val="212A36"/>
                </a:solidFill>
                <a:latin typeface="Aptos"/>
              </a:defRPr>
            </a:pPr>
            <a:r>
              <a:t>Missing value pada Umur diisi dengan median karena Umur merupakan data numerik. Median yang diperoleh adalah 36.0. Missing value pada Diagnosis diisi dengan modus karena Diagnosis merupakan data kategorikal; modusnya adalah Infeksi. Setelah imputasi, seluruh kolom memiliki 0 missing value.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789920" cy="411480"/>
          </a:xfrm>
          <a:prstGeom prst="rect">
            <a:avLst/>
          </a:prstGeom>
          <a:noFill/>
        </p:spPr>
        <p:txBody>
          <a:bodyPr wrap="none">
            <a:spAutoFit/>
          </a:bodyPr>
          <a:lstStyle/>
          <a:p>
            <a:pPr>
              <a:defRPr sz="2400" b="1">
                <a:solidFill>
                  <a:srgbClr val="FFFFFF"/>
                </a:solidFill>
                <a:latin typeface="Aptos Display"/>
              </a:defRPr>
            </a:pPr>
            <a:r>
              <a:t>5. Verifikasi dan Deteksi Duplikat</a:t>
            </a:r>
          </a:p>
        </p:txBody>
      </p:sp>
      <p:sp>
        <p:nvSpPr>
          <p:cNvPr id="4" name="TextBox 3"/>
          <p:cNvSpPr txBox="1"/>
          <p:nvPr/>
        </p:nvSpPr>
        <p:spPr>
          <a:xfrm>
            <a:off x="11201400" y="146304"/>
            <a:ext cx="457200" cy="320040"/>
          </a:xfrm>
          <a:prstGeom prst="rect">
            <a:avLst/>
          </a:prstGeom>
          <a:noFill/>
        </p:spPr>
        <p:txBody>
          <a:bodyPr wrap="none">
            <a:spAutoFit/>
          </a:bodyPr>
          <a:lstStyle/>
          <a:p>
            <a:pPr algn="r">
              <a:defRPr sz="1200">
                <a:solidFill>
                  <a:srgbClr val="FFFFFF"/>
                </a:solidFill>
                <a:latin typeface="Aptos"/>
              </a:defRPr>
            </a:pPr>
            <a:r>
              <a:t>6</a:t>
            </a:r>
          </a:p>
        </p:txBody>
      </p:sp>
      <p:sp>
        <p:nvSpPr>
          <p:cNvPr id="5" name="Rounded Rectangle 4"/>
          <p:cNvSpPr/>
          <p:nvPr/>
        </p:nvSpPr>
        <p:spPr>
          <a:xfrm>
            <a:off x="438912" y="932688"/>
            <a:ext cx="7223760" cy="5468112"/>
          </a:xfrm>
          <a:prstGeom prst="roundRect">
            <a:avLst/>
          </a:prstGeom>
          <a:solidFill>
            <a:srgbClr val="1B1E22"/>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 2026-10-03 044124(1).png"/>
          <p:cNvPicPr>
            <a:picLocks noChangeAspect="1"/>
          </p:cNvPicPr>
          <p:nvPr/>
        </p:nvPicPr>
        <p:blipFill>
          <a:blip r:embed="rId2"/>
          <a:stretch>
            <a:fillRect/>
          </a:stretch>
        </p:blipFill>
        <p:spPr>
          <a:xfrm>
            <a:off x="548640" y="1287431"/>
            <a:ext cx="6995160" cy="4749481"/>
          </a:xfrm>
          <a:prstGeom prst="rect">
            <a:avLst/>
          </a:prstGeom>
        </p:spPr>
      </p:pic>
      <p:sp>
        <p:nvSpPr>
          <p:cNvPr id="7" name="Rounded Rectangle 6"/>
          <p:cNvSpPr/>
          <p:nvPr/>
        </p:nvSpPr>
        <p:spPr>
          <a:xfrm>
            <a:off x="7818120" y="932688"/>
            <a:ext cx="3913632" cy="5468112"/>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74152" y="1188720"/>
            <a:ext cx="3401568" cy="411480"/>
          </a:xfrm>
          <a:prstGeom prst="rect">
            <a:avLst/>
          </a:prstGeom>
          <a:noFill/>
        </p:spPr>
        <p:txBody>
          <a:bodyPr wrap="none">
            <a:spAutoFit/>
          </a:bodyPr>
          <a:lstStyle/>
          <a:p>
            <a:pPr>
              <a:defRPr sz="1900" b="1">
                <a:solidFill>
                  <a:srgbClr val="2C66B0"/>
                </a:solidFill>
                <a:latin typeface="Aptos"/>
              </a:defRPr>
            </a:pPr>
            <a:r>
              <a:t>Penjelasan</a:t>
            </a:r>
          </a:p>
        </p:txBody>
      </p:sp>
      <p:sp>
        <p:nvSpPr>
          <p:cNvPr id="9" name="TextBox 8"/>
          <p:cNvSpPr txBox="1"/>
          <p:nvPr/>
        </p:nvSpPr>
        <p:spPr>
          <a:xfrm>
            <a:off x="8074152" y="1773936"/>
            <a:ext cx="3401568" cy="4325112"/>
          </a:xfrm>
          <a:prstGeom prst="rect">
            <a:avLst/>
          </a:prstGeom>
          <a:noFill/>
        </p:spPr>
        <p:txBody>
          <a:bodyPr wrap="square">
            <a:spAutoFit/>
          </a:bodyPr>
          <a:lstStyle/>
          <a:p>
            <a:pPr>
              <a:defRPr sz="1500">
                <a:solidFill>
                  <a:srgbClr val="212A36"/>
                </a:solidFill>
                <a:latin typeface="Aptos"/>
              </a:defRPr>
            </a:pPr>
            <a:r>
              <a:t>PS012 dan PS023 ditampilkan kembali untuk memastikan hasil imputasi sudah masuk. Total missing value menjadi 0. Selanjutnya duplicated().sum() mendeteksi 1 data duplikat pada dataset.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789920" cy="411480"/>
          </a:xfrm>
          <a:prstGeom prst="rect">
            <a:avLst/>
          </a:prstGeom>
          <a:noFill/>
        </p:spPr>
        <p:txBody>
          <a:bodyPr wrap="none">
            <a:spAutoFit/>
          </a:bodyPr>
          <a:lstStyle/>
          <a:p>
            <a:pPr>
              <a:defRPr sz="2400" b="1">
                <a:solidFill>
                  <a:srgbClr val="FFFFFF"/>
                </a:solidFill>
                <a:latin typeface="Aptos Display"/>
              </a:defRPr>
            </a:pPr>
            <a:r>
              <a:t>6. Menghapus Data Duplikat</a:t>
            </a:r>
          </a:p>
        </p:txBody>
      </p:sp>
      <p:sp>
        <p:nvSpPr>
          <p:cNvPr id="4" name="TextBox 3"/>
          <p:cNvSpPr txBox="1"/>
          <p:nvPr/>
        </p:nvSpPr>
        <p:spPr>
          <a:xfrm>
            <a:off x="11201400" y="146304"/>
            <a:ext cx="457200" cy="320040"/>
          </a:xfrm>
          <a:prstGeom prst="rect">
            <a:avLst/>
          </a:prstGeom>
          <a:noFill/>
        </p:spPr>
        <p:txBody>
          <a:bodyPr wrap="none">
            <a:spAutoFit/>
          </a:bodyPr>
          <a:lstStyle/>
          <a:p>
            <a:pPr algn="r">
              <a:defRPr sz="1200">
                <a:solidFill>
                  <a:srgbClr val="FFFFFF"/>
                </a:solidFill>
                <a:latin typeface="Aptos"/>
              </a:defRPr>
            </a:pPr>
            <a:r>
              <a:t>7</a:t>
            </a:r>
          </a:p>
        </p:txBody>
      </p:sp>
      <p:sp>
        <p:nvSpPr>
          <p:cNvPr id="5" name="Rounded Rectangle 4"/>
          <p:cNvSpPr/>
          <p:nvPr/>
        </p:nvSpPr>
        <p:spPr>
          <a:xfrm>
            <a:off x="438912" y="932688"/>
            <a:ext cx="7223760" cy="5468112"/>
          </a:xfrm>
          <a:prstGeom prst="roundRect">
            <a:avLst/>
          </a:prstGeom>
          <a:solidFill>
            <a:srgbClr val="1B1E22"/>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 2026-10-03 044137(1).png"/>
          <p:cNvPicPr>
            <a:picLocks noChangeAspect="1"/>
          </p:cNvPicPr>
          <p:nvPr/>
        </p:nvPicPr>
        <p:blipFill>
          <a:blip r:embed="rId2"/>
          <a:stretch>
            <a:fillRect/>
          </a:stretch>
        </p:blipFill>
        <p:spPr>
          <a:xfrm>
            <a:off x="548640" y="1278636"/>
            <a:ext cx="6995160" cy="4767072"/>
          </a:xfrm>
          <a:prstGeom prst="rect">
            <a:avLst/>
          </a:prstGeom>
        </p:spPr>
      </p:pic>
      <p:sp>
        <p:nvSpPr>
          <p:cNvPr id="7" name="Rounded Rectangle 6"/>
          <p:cNvSpPr/>
          <p:nvPr/>
        </p:nvSpPr>
        <p:spPr>
          <a:xfrm>
            <a:off x="7818120" y="932688"/>
            <a:ext cx="3913632" cy="5468112"/>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74152" y="1188720"/>
            <a:ext cx="3401568" cy="411480"/>
          </a:xfrm>
          <a:prstGeom prst="rect">
            <a:avLst/>
          </a:prstGeom>
          <a:noFill/>
        </p:spPr>
        <p:txBody>
          <a:bodyPr wrap="none">
            <a:spAutoFit/>
          </a:bodyPr>
          <a:lstStyle/>
          <a:p>
            <a:pPr>
              <a:defRPr sz="1900" b="1">
                <a:solidFill>
                  <a:srgbClr val="2C66B0"/>
                </a:solidFill>
                <a:latin typeface="Aptos"/>
              </a:defRPr>
            </a:pPr>
            <a:r>
              <a:t>Penjelasan</a:t>
            </a:r>
          </a:p>
        </p:txBody>
      </p:sp>
      <p:sp>
        <p:nvSpPr>
          <p:cNvPr id="9" name="TextBox 8"/>
          <p:cNvSpPr txBox="1"/>
          <p:nvPr/>
        </p:nvSpPr>
        <p:spPr>
          <a:xfrm>
            <a:off x="8074152" y="1773936"/>
            <a:ext cx="3401568" cy="4325112"/>
          </a:xfrm>
          <a:prstGeom prst="rect">
            <a:avLst/>
          </a:prstGeom>
          <a:noFill/>
        </p:spPr>
        <p:txBody>
          <a:bodyPr wrap="square">
            <a:spAutoFit/>
          </a:bodyPr>
          <a:lstStyle/>
          <a:p>
            <a:pPr>
              <a:defRPr sz="1500">
                <a:solidFill>
                  <a:srgbClr val="212A36"/>
                </a:solidFill>
                <a:latin typeface="Aptos"/>
              </a:defRPr>
            </a:pPr>
            <a:r>
              <a:t>Data duplikat yang ditemukan adalah PS029 – Arif Firmansyah yang muncul dua kali dengan atribut identik. Fungsi drop_duplicates() digunakan untuk menghapus satu salinan sehingga hanya data unik yang dipertahankan.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789920" cy="411480"/>
          </a:xfrm>
          <a:prstGeom prst="rect">
            <a:avLst/>
          </a:prstGeom>
          <a:noFill/>
        </p:spPr>
        <p:txBody>
          <a:bodyPr wrap="none">
            <a:spAutoFit/>
          </a:bodyPr>
          <a:lstStyle/>
          <a:p>
            <a:pPr>
              <a:defRPr sz="2400" b="1">
                <a:solidFill>
                  <a:srgbClr val="FFFFFF"/>
                </a:solidFill>
                <a:latin typeface="Aptos Display"/>
              </a:defRPr>
            </a:pPr>
            <a:r>
              <a:t>7. Verifikasi Penghapusan Duplikat</a:t>
            </a:r>
          </a:p>
        </p:txBody>
      </p:sp>
      <p:sp>
        <p:nvSpPr>
          <p:cNvPr id="4" name="TextBox 3"/>
          <p:cNvSpPr txBox="1"/>
          <p:nvPr/>
        </p:nvSpPr>
        <p:spPr>
          <a:xfrm>
            <a:off x="11201400" y="146304"/>
            <a:ext cx="457200" cy="320040"/>
          </a:xfrm>
          <a:prstGeom prst="rect">
            <a:avLst/>
          </a:prstGeom>
          <a:noFill/>
        </p:spPr>
        <p:txBody>
          <a:bodyPr wrap="none">
            <a:spAutoFit/>
          </a:bodyPr>
          <a:lstStyle/>
          <a:p>
            <a:pPr algn="r">
              <a:defRPr sz="1200">
                <a:solidFill>
                  <a:srgbClr val="FFFFFF"/>
                </a:solidFill>
                <a:latin typeface="Aptos"/>
              </a:defRPr>
            </a:pPr>
            <a:r>
              <a:t>8</a:t>
            </a:r>
          </a:p>
        </p:txBody>
      </p:sp>
      <p:sp>
        <p:nvSpPr>
          <p:cNvPr id="5" name="Rounded Rectangle 4"/>
          <p:cNvSpPr/>
          <p:nvPr/>
        </p:nvSpPr>
        <p:spPr>
          <a:xfrm>
            <a:off x="438912" y="932688"/>
            <a:ext cx="7223760" cy="5468112"/>
          </a:xfrm>
          <a:prstGeom prst="roundRect">
            <a:avLst/>
          </a:prstGeom>
          <a:solidFill>
            <a:srgbClr val="1B1E22"/>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 2026-10-03 044144(1).png"/>
          <p:cNvPicPr>
            <a:picLocks noChangeAspect="1"/>
          </p:cNvPicPr>
          <p:nvPr/>
        </p:nvPicPr>
        <p:blipFill>
          <a:blip r:embed="rId2"/>
          <a:stretch>
            <a:fillRect/>
          </a:stretch>
        </p:blipFill>
        <p:spPr>
          <a:xfrm>
            <a:off x="548640" y="2653778"/>
            <a:ext cx="6995160" cy="2016786"/>
          </a:xfrm>
          <a:prstGeom prst="rect">
            <a:avLst/>
          </a:prstGeom>
        </p:spPr>
      </p:pic>
      <p:sp>
        <p:nvSpPr>
          <p:cNvPr id="7" name="Rounded Rectangle 6"/>
          <p:cNvSpPr/>
          <p:nvPr/>
        </p:nvSpPr>
        <p:spPr>
          <a:xfrm>
            <a:off x="7818120" y="932688"/>
            <a:ext cx="3913632" cy="5468112"/>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74152" y="1188720"/>
            <a:ext cx="3401568" cy="411480"/>
          </a:xfrm>
          <a:prstGeom prst="rect">
            <a:avLst/>
          </a:prstGeom>
          <a:noFill/>
        </p:spPr>
        <p:txBody>
          <a:bodyPr wrap="none">
            <a:spAutoFit/>
          </a:bodyPr>
          <a:lstStyle/>
          <a:p>
            <a:pPr>
              <a:defRPr sz="1900" b="1">
                <a:solidFill>
                  <a:srgbClr val="2C66B0"/>
                </a:solidFill>
                <a:latin typeface="Aptos"/>
              </a:defRPr>
            </a:pPr>
            <a:r>
              <a:t>Penjelasan</a:t>
            </a:r>
          </a:p>
        </p:txBody>
      </p:sp>
      <p:sp>
        <p:nvSpPr>
          <p:cNvPr id="9" name="TextBox 8"/>
          <p:cNvSpPr txBox="1"/>
          <p:nvPr/>
        </p:nvSpPr>
        <p:spPr>
          <a:xfrm>
            <a:off x="8074152" y="1773936"/>
            <a:ext cx="3401568" cy="4325112"/>
          </a:xfrm>
          <a:prstGeom prst="rect">
            <a:avLst/>
          </a:prstGeom>
          <a:noFill/>
        </p:spPr>
        <p:txBody>
          <a:bodyPr wrap="square">
            <a:spAutoFit/>
          </a:bodyPr>
          <a:lstStyle/>
          <a:p>
            <a:pPr>
              <a:defRPr sz="1500">
                <a:solidFill>
                  <a:srgbClr val="212A36"/>
                </a:solidFill>
                <a:latin typeface="Aptos"/>
              </a:defRPr>
            </a:pPr>
            <a:r>
              <a:t>Setelah penghapusan, jumlah data duplikat menjadi 0. Jumlah baris dataset berkurang dari 30 menjadi 29 karena satu baris duplikat telah dihapus.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789920" cy="411480"/>
          </a:xfrm>
          <a:prstGeom prst="rect">
            <a:avLst/>
          </a:prstGeom>
          <a:noFill/>
        </p:spPr>
        <p:txBody>
          <a:bodyPr wrap="none">
            <a:spAutoFit/>
          </a:bodyPr>
          <a:lstStyle/>
          <a:p>
            <a:pPr>
              <a:defRPr sz="2400" b="1">
                <a:solidFill>
                  <a:srgbClr val="FFFFFF"/>
                </a:solidFill>
                <a:latin typeface="Aptos Display"/>
              </a:defRPr>
            </a:pPr>
            <a:r>
              <a:t>8. Identifikasi Inkonsistensi Teks</a:t>
            </a:r>
          </a:p>
        </p:txBody>
      </p:sp>
      <p:sp>
        <p:nvSpPr>
          <p:cNvPr id="4" name="TextBox 3"/>
          <p:cNvSpPr txBox="1"/>
          <p:nvPr/>
        </p:nvSpPr>
        <p:spPr>
          <a:xfrm>
            <a:off x="11201400" y="146304"/>
            <a:ext cx="457200" cy="320040"/>
          </a:xfrm>
          <a:prstGeom prst="rect">
            <a:avLst/>
          </a:prstGeom>
          <a:noFill/>
        </p:spPr>
        <p:txBody>
          <a:bodyPr wrap="none">
            <a:spAutoFit/>
          </a:bodyPr>
          <a:lstStyle/>
          <a:p>
            <a:pPr algn="r">
              <a:defRPr sz="1200">
                <a:solidFill>
                  <a:srgbClr val="FFFFFF"/>
                </a:solidFill>
                <a:latin typeface="Aptos"/>
              </a:defRPr>
            </a:pPr>
            <a:r>
              <a:t>9</a:t>
            </a:r>
          </a:p>
        </p:txBody>
      </p:sp>
      <p:sp>
        <p:nvSpPr>
          <p:cNvPr id="5" name="Rounded Rectangle 4"/>
          <p:cNvSpPr/>
          <p:nvPr/>
        </p:nvSpPr>
        <p:spPr>
          <a:xfrm>
            <a:off x="438912" y="932688"/>
            <a:ext cx="7223760" cy="5468112"/>
          </a:xfrm>
          <a:prstGeom prst="roundRect">
            <a:avLst/>
          </a:prstGeom>
          <a:solidFill>
            <a:srgbClr val="1B1E22"/>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 2026-10-03 044439.png"/>
          <p:cNvPicPr>
            <a:picLocks noChangeAspect="1"/>
          </p:cNvPicPr>
          <p:nvPr/>
        </p:nvPicPr>
        <p:blipFill>
          <a:blip r:embed="rId2"/>
          <a:stretch>
            <a:fillRect/>
          </a:stretch>
        </p:blipFill>
        <p:spPr>
          <a:xfrm>
            <a:off x="548640" y="2099605"/>
            <a:ext cx="6995160" cy="3125132"/>
          </a:xfrm>
          <a:prstGeom prst="rect">
            <a:avLst/>
          </a:prstGeom>
        </p:spPr>
      </p:pic>
      <p:sp>
        <p:nvSpPr>
          <p:cNvPr id="7" name="Rounded Rectangle 6"/>
          <p:cNvSpPr/>
          <p:nvPr/>
        </p:nvSpPr>
        <p:spPr>
          <a:xfrm>
            <a:off x="7818120" y="932688"/>
            <a:ext cx="3913632" cy="5468112"/>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74152" y="1188720"/>
            <a:ext cx="3401568" cy="411480"/>
          </a:xfrm>
          <a:prstGeom prst="rect">
            <a:avLst/>
          </a:prstGeom>
          <a:noFill/>
        </p:spPr>
        <p:txBody>
          <a:bodyPr wrap="none">
            <a:spAutoFit/>
          </a:bodyPr>
          <a:lstStyle/>
          <a:p>
            <a:pPr>
              <a:defRPr sz="1900" b="1">
                <a:solidFill>
                  <a:srgbClr val="2C66B0"/>
                </a:solidFill>
                <a:latin typeface="Aptos"/>
              </a:defRPr>
            </a:pPr>
            <a:r>
              <a:t>Penjelasan</a:t>
            </a:r>
          </a:p>
        </p:txBody>
      </p:sp>
      <p:sp>
        <p:nvSpPr>
          <p:cNvPr id="9" name="TextBox 8"/>
          <p:cNvSpPr txBox="1"/>
          <p:nvPr/>
        </p:nvSpPr>
        <p:spPr>
          <a:xfrm>
            <a:off x="8074152" y="1773936"/>
            <a:ext cx="3401568" cy="4325112"/>
          </a:xfrm>
          <a:prstGeom prst="rect">
            <a:avLst/>
          </a:prstGeom>
          <a:noFill/>
        </p:spPr>
        <p:txBody>
          <a:bodyPr wrap="square">
            <a:spAutoFit/>
          </a:bodyPr>
          <a:lstStyle/>
          <a:p>
            <a:pPr>
              <a:defRPr sz="1500">
                <a:solidFill>
                  <a:srgbClr val="212A36"/>
                </a:solidFill>
                <a:latin typeface="Aptos"/>
              </a:defRPr>
            </a:pPr>
            <a:r>
              <a:t>Nilai unik pada Diagnosis dan Status Rawat diperiksa sebelum standardisasi. Ditemukan variasi penulisan seperti “bedah/ortopedi”, “Penyakit dalam”, “rawat inap”, “RAWAT JALAN”, spasi tambahan, serta typo “Jantng”.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789920" cy="411480"/>
          </a:xfrm>
          <a:prstGeom prst="rect">
            <a:avLst/>
          </a:prstGeom>
          <a:noFill/>
        </p:spPr>
        <p:txBody>
          <a:bodyPr wrap="none">
            <a:spAutoFit/>
          </a:bodyPr>
          <a:lstStyle/>
          <a:p>
            <a:pPr>
              <a:defRPr sz="2400" b="1">
                <a:solidFill>
                  <a:srgbClr val="FFFFFF"/>
                </a:solidFill>
                <a:latin typeface="Aptos Display"/>
              </a:defRPr>
            </a:pPr>
            <a:r>
              <a:t>9. Pembersihan dan Standardisasi Teks</a:t>
            </a:r>
          </a:p>
        </p:txBody>
      </p:sp>
      <p:sp>
        <p:nvSpPr>
          <p:cNvPr id="4" name="TextBox 3"/>
          <p:cNvSpPr txBox="1"/>
          <p:nvPr/>
        </p:nvSpPr>
        <p:spPr>
          <a:xfrm>
            <a:off x="11201400" y="146304"/>
            <a:ext cx="457200" cy="320040"/>
          </a:xfrm>
          <a:prstGeom prst="rect">
            <a:avLst/>
          </a:prstGeom>
          <a:noFill/>
        </p:spPr>
        <p:txBody>
          <a:bodyPr wrap="none">
            <a:spAutoFit/>
          </a:bodyPr>
          <a:lstStyle/>
          <a:p>
            <a:pPr algn="r">
              <a:defRPr sz="1200">
                <a:solidFill>
                  <a:srgbClr val="FFFFFF"/>
                </a:solidFill>
                <a:latin typeface="Aptos"/>
              </a:defRPr>
            </a:pPr>
            <a:r>
              <a:t>10</a:t>
            </a:r>
          </a:p>
        </p:txBody>
      </p:sp>
      <p:sp>
        <p:nvSpPr>
          <p:cNvPr id="5" name="Rounded Rectangle 4"/>
          <p:cNvSpPr/>
          <p:nvPr/>
        </p:nvSpPr>
        <p:spPr>
          <a:xfrm>
            <a:off x="438912" y="932688"/>
            <a:ext cx="7223760" cy="5468112"/>
          </a:xfrm>
          <a:prstGeom prst="roundRect">
            <a:avLst/>
          </a:prstGeom>
          <a:solidFill>
            <a:srgbClr val="1B1E22"/>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 2026-10-03 044514.png"/>
          <p:cNvPicPr>
            <a:picLocks noChangeAspect="1"/>
          </p:cNvPicPr>
          <p:nvPr/>
        </p:nvPicPr>
        <p:blipFill>
          <a:blip r:embed="rId2"/>
          <a:stretch>
            <a:fillRect/>
          </a:stretch>
        </p:blipFill>
        <p:spPr>
          <a:xfrm>
            <a:off x="1007934" y="1033271"/>
            <a:ext cx="6076571" cy="5257800"/>
          </a:xfrm>
          <a:prstGeom prst="rect">
            <a:avLst/>
          </a:prstGeom>
        </p:spPr>
      </p:pic>
      <p:sp>
        <p:nvSpPr>
          <p:cNvPr id="7" name="Rounded Rectangle 6"/>
          <p:cNvSpPr/>
          <p:nvPr/>
        </p:nvSpPr>
        <p:spPr>
          <a:xfrm>
            <a:off x="7818120" y="932688"/>
            <a:ext cx="3913632" cy="5468112"/>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74152" y="1188720"/>
            <a:ext cx="3401568" cy="411480"/>
          </a:xfrm>
          <a:prstGeom prst="rect">
            <a:avLst/>
          </a:prstGeom>
          <a:noFill/>
        </p:spPr>
        <p:txBody>
          <a:bodyPr wrap="none">
            <a:spAutoFit/>
          </a:bodyPr>
          <a:lstStyle/>
          <a:p>
            <a:pPr>
              <a:defRPr sz="1900" b="1">
                <a:solidFill>
                  <a:srgbClr val="2C66B0"/>
                </a:solidFill>
                <a:latin typeface="Aptos"/>
              </a:defRPr>
            </a:pPr>
            <a:r>
              <a:t>Penjelasan</a:t>
            </a:r>
          </a:p>
        </p:txBody>
      </p:sp>
      <p:sp>
        <p:nvSpPr>
          <p:cNvPr id="9" name="TextBox 8"/>
          <p:cNvSpPr txBox="1"/>
          <p:nvPr/>
        </p:nvSpPr>
        <p:spPr>
          <a:xfrm>
            <a:off x="8074152" y="1773936"/>
            <a:ext cx="3401568" cy="4325112"/>
          </a:xfrm>
          <a:prstGeom prst="rect">
            <a:avLst/>
          </a:prstGeom>
          <a:noFill/>
        </p:spPr>
        <p:txBody>
          <a:bodyPr wrap="square">
            <a:spAutoFit/>
          </a:bodyPr>
          <a:lstStyle/>
          <a:p>
            <a:pPr>
              <a:defRPr sz="1500">
                <a:solidFill>
                  <a:srgbClr val="212A36"/>
                </a:solidFill>
                <a:latin typeface="Aptos"/>
              </a:defRPr>
            </a:pPr>
            <a:r>
              <a:t>str.strip() digunakan untuk menghapus spasi berlebih pada kolom teks. Selanjutnya ID Pasien diseragamkan dengan upper(), sedangkan Nama Pasien, Diagnosis, dan Status Rawat menggunakan title(). Tujuannya agar kategori yang sama memiliki format penulisan yang konsisten.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789920" cy="411480"/>
          </a:xfrm>
          <a:prstGeom prst="rect">
            <a:avLst/>
          </a:prstGeom>
          <a:noFill/>
        </p:spPr>
        <p:txBody>
          <a:bodyPr wrap="none">
            <a:spAutoFit/>
          </a:bodyPr>
          <a:lstStyle/>
          <a:p>
            <a:pPr>
              <a:defRPr sz="2400" b="1">
                <a:solidFill>
                  <a:srgbClr val="FFFFFF"/>
                </a:solidFill>
                <a:latin typeface="Aptos Display"/>
              </a:defRPr>
            </a:pPr>
            <a:r>
              <a:t>10. Perbaikan Typo Diagnosis</a:t>
            </a:r>
          </a:p>
        </p:txBody>
      </p:sp>
      <p:sp>
        <p:nvSpPr>
          <p:cNvPr id="4" name="TextBox 3"/>
          <p:cNvSpPr txBox="1"/>
          <p:nvPr/>
        </p:nvSpPr>
        <p:spPr>
          <a:xfrm>
            <a:off x="11201400" y="146304"/>
            <a:ext cx="457200" cy="320040"/>
          </a:xfrm>
          <a:prstGeom prst="rect">
            <a:avLst/>
          </a:prstGeom>
          <a:noFill/>
        </p:spPr>
        <p:txBody>
          <a:bodyPr wrap="none">
            <a:spAutoFit/>
          </a:bodyPr>
          <a:lstStyle/>
          <a:p>
            <a:pPr algn="r">
              <a:defRPr sz="1200">
                <a:solidFill>
                  <a:srgbClr val="FFFFFF"/>
                </a:solidFill>
                <a:latin typeface="Aptos"/>
              </a:defRPr>
            </a:pPr>
            <a:r>
              <a:t>11</a:t>
            </a:r>
          </a:p>
        </p:txBody>
      </p:sp>
      <p:sp>
        <p:nvSpPr>
          <p:cNvPr id="5" name="Rounded Rectangle 4"/>
          <p:cNvSpPr/>
          <p:nvPr/>
        </p:nvSpPr>
        <p:spPr>
          <a:xfrm>
            <a:off x="438912" y="932688"/>
            <a:ext cx="7223760" cy="5468112"/>
          </a:xfrm>
          <a:prstGeom prst="roundRect">
            <a:avLst/>
          </a:prstGeom>
          <a:solidFill>
            <a:srgbClr val="1B1E22"/>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 2026-10-03 044548.png"/>
          <p:cNvPicPr>
            <a:picLocks noChangeAspect="1"/>
          </p:cNvPicPr>
          <p:nvPr/>
        </p:nvPicPr>
        <p:blipFill>
          <a:blip r:embed="rId2"/>
          <a:stretch>
            <a:fillRect/>
          </a:stretch>
        </p:blipFill>
        <p:spPr>
          <a:xfrm>
            <a:off x="548640" y="1130310"/>
            <a:ext cx="6995160" cy="5063723"/>
          </a:xfrm>
          <a:prstGeom prst="rect">
            <a:avLst/>
          </a:prstGeom>
        </p:spPr>
      </p:pic>
      <p:sp>
        <p:nvSpPr>
          <p:cNvPr id="7" name="Rounded Rectangle 6"/>
          <p:cNvSpPr/>
          <p:nvPr/>
        </p:nvSpPr>
        <p:spPr>
          <a:xfrm>
            <a:off x="7818120" y="932688"/>
            <a:ext cx="3913632" cy="5468112"/>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74152" y="1188720"/>
            <a:ext cx="3401568" cy="411480"/>
          </a:xfrm>
          <a:prstGeom prst="rect">
            <a:avLst/>
          </a:prstGeom>
          <a:noFill/>
        </p:spPr>
        <p:txBody>
          <a:bodyPr wrap="none">
            <a:spAutoFit/>
          </a:bodyPr>
          <a:lstStyle/>
          <a:p>
            <a:pPr>
              <a:defRPr sz="1900" b="1">
                <a:solidFill>
                  <a:srgbClr val="2C66B0"/>
                </a:solidFill>
                <a:latin typeface="Aptos"/>
              </a:defRPr>
            </a:pPr>
            <a:r>
              <a:t>Penjelasan</a:t>
            </a:r>
          </a:p>
        </p:txBody>
      </p:sp>
      <p:sp>
        <p:nvSpPr>
          <p:cNvPr id="9" name="TextBox 8"/>
          <p:cNvSpPr txBox="1"/>
          <p:nvPr/>
        </p:nvSpPr>
        <p:spPr>
          <a:xfrm>
            <a:off x="8074152" y="1773936"/>
            <a:ext cx="3401568" cy="4325112"/>
          </a:xfrm>
          <a:prstGeom prst="rect">
            <a:avLst/>
          </a:prstGeom>
          <a:noFill/>
        </p:spPr>
        <p:txBody>
          <a:bodyPr wrap="square">
            <a:spAutoFit/>
          </a:bodyPr>
          <a:lstStyle/>
          <a:p>
            <a:pPr>
              <a:defRPr sz="1500">
                <a:solidFill>
                  <a:srgbClr val="212A36"/>
                </a:solidFill>
                <a:latin typeface="Aptos"/>
              </a:defRPr>
            </a:pPr>
            <a:r>
              <a:t>Setelah standardisasi, typo “Jantng” masih terdeteksi karena bukan masalah kapitalisasi. replace() digunakan untuk mengubah “Jantng” menjadi “Jantung”. Hasil akhirnya menyisakan lima kategori diagnosis yang konsisten.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789920" cy="411480"/>
          </a:xfrm>
          <a:prstGeom prst="rect">
            <a:avLst/>
          </a:prstGeom>
          <a:noFill/>
        </p:spPr>
        <p:txBody>
          <a:bodyPr wrap="none">
            <a:spAutoFit/>
          </a:bodyPr>
          <a:lstStyle/>
          <a:p>
            <a:pPr>
              <a:defRPr sz="2400" b="1">
                <a:solidFill>
                  <a:srgbClr val="FFFFFF"/>
                </a:solidFill>
                <a:latin typeface="Aptos Display"/>
              </a:defRPr>
            </a:pPr>
            <a:r>
              <a:t>11. Validasi Diagnosis</a:t>
            </a:r>
          </a:p>
        </p:txBody>
      </p:sp>
      <p:sp>
        <p:nvSpPr>
          <p:cNvPr id="4" name="TextBox 3"/>
          <p:cNvSpPr txBox="1"/>
          <p:nvPr/>
        </p:nvSpPr>
        <p:spPr>
          <a:xfrm>
            <a:off x="11201400" y="146304"/>
            <a:ext cx="457200" cy="320040"/>
          </a:xfrm>
          <a:prstGeom prst="rect">
            <a:avLst/>
          </a:prstGeom>
          <a:noFill/>
        </p:spPr>
        <p:txBody>
          <a:bodyPr wrap="none">
            <a:spAutoFit/>
          </a:bodyPr>
          <a:lstStyle/>
          <a:p>
            <a:pPr algn="r">
              <a:defRPr sz="1200">
                <a:solidFill>
                  <a:srgbClr val="FFFFFF"/>
                </a:solidFill>
                <a:latin typeface="Aptos"/>
              </a:defRPr>
            </a:pPr>
            <a:r>
              <a:t>12</a:t>
            </a:r>
          </a:p>
        </p:txBody>
      </p:sp>
      <p:sp>
        <p:nvSpPr>
          <p:cNvPr id="5" name="Rounded Rectangle 4"/>
          <p:cNvSpPr/>
          <p:nvPr/>
        </p:nvSpPr>
        <p:spPr>
          <a:xfrm>
            <a:off x="438912" y="932688"/>
            <a:ext cx="7223760" cy="5468112"/>
          </a:xfrm>
          <a:prstGeom prst="roundRect">
            <a:avLst/>
          </a:prstGeom>
          <a:solidFill>
            <a:srgbClr val="1B1E22"/>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 2026-10-03 044632.png"/>
          <p:cNvPicPr>
            <a:picLocks noChangeAspect="1"/>
          </p:cNvPicPr>
          <p:nvPr/>
        </p:nvPicPr>
        <p:blipFill>
          <a:blip r:embed="rId2"/>
          <a:stretch>
            <a:fillRect/>
          </a:stretch>
        </p:blipFill>
        <p:spPr>
          <a:xfrm>
            <a:off x="548640" y="2396842"/>
            <a:ext cx="6995160" cy="2530658"/>
          </a:xfrm>
          <a:prstGeom prst="rect">
            <a:avLst/>
          </a:prstGeom>
        </p:spPr>
      </p:pic>
      <p:sp>
        <p:nvSpPr>
          <p:cNvPr id="7" name="Rounded Rectangle 6"/>
          <p:cNvSpPr/>
          <p:nvPr/>
        </p:nvSpPr>
        <p:spPr>
          <a:xfrm>
            <a:off x="7818120" y="932688"/>
            <a:ext cx="3913632" cy="5468112"/>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74152" y="1188720"/>
            <a:ext cx="3401568" cy="411480"/>
          </a:xfrm>
          <a:prstGeom prst="rect">
            <a:avLst/>
          </a:prstGeom>
          <a:noFill/>
        </p:spPr>
        <p:txBody>
          <a:bodyPr wrap="none">
            <a:spAutoFit/>
          </a:bodyPr>
          <a:lstStyle/>
          <a:p>
            <a:pPr>
              <a:defRPr sz="1900" b="1">
                <a:solidFill>
                  <a:srgbClr val="2C66B0"/>
                </a:solidFill>
                <a:latin typeface="Aptos"/>
              </a:defRPr>
            </a:pPr>
            <a:r>
              <a:t>Penjelasan</a:t>
            </a:r>
          </a:p>
        </p:txBody>
      </p:sp>
      <p:sp>
        <p:nvSpPr>
          <p:cNvPr id="9" name="TextBox 8"/>
          <p:cNvSpPr txBox="1"/>
          <p:nvPr/>
        </p:nvSpPr>
        <p:spPr>
          <a:xfrm>
            <a:off x="8074152" y="1773936"/>
            <a:ext cx="3401568" cy="4325112"/>
          </a:xfrm>
          <a:prstGeom prst="rect">
            <a:avLst/>
          </a:prstGeom>
          <a:noFill/>
        </p:spPr>
        <p:txBody>
          <a:bodyPr wrap="square">
            <a:spAutoFit/>
          </a:bodyPr>
          <a:lstStyle/>
          <a:p>
            <a:pPr>
              <a:defRPr sz="1500">
                <a:solidFill>
                  <a:srgbClr val="212A36"/>
                </a:solidFill>
                <a:latin typeface="Aptos"/>
              </a:defRPr>
            </a:pPr>
            <a:r>
              <a:t>Diagnosis divalidasi terhadap lima kategori yang diperbolehkan: Penyakit Dalam, Jantung, Bedah/Ortopedi, Infeksi, dan Saraf. Hasil validasi menunjukkan 0 diagnosis tidak valid.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789920" cy="411480"/>
          </a:xfrm>
          <a:prstGeom prst="rect">
            <a:avLst/>
          </a:prstGeom>
          <a:noFill/>
        </p:spPr>
        <p:txBody>
          <a:bodyPr wrap="none">
            <a:spAutoFit/>
          </a:bodyPr>
          <a:lstStyle/>
          <a:p>
            <a:pPr>
              <a:defRPr sz="2400" b="1">
                <a:solidFill>
                  <a:srgbClr val="FFFFFF"/>
                </a:solidFill>
                <a:latin typeface="Aptos Display"/>
              </a:defRPr>
            </a:pPr>
            <a:r>
              <a:t>12. Validasi Status Rawat</a:t>
            </a:r>
          </a:p>
        </p:txBody>
      </p:sp>
      <p:sp>
        <p:nvSpPr>
          <p:cNvPr id="4" name="TextBox 3"/>
          <p:cNvSpPr txBox="1"/>
          <p:nvPr/>
        </p:nvSpPr>
        <p:spPr>
          <a:xfrm>
            <a:off x="11201400" y="146304"/>
            <a:ext cx="457200" cy="320040"/>
          </a:xfrm>
          <a:prstGeom prst="rect">
            <a:avLst/>
          </a:prstGeom>
          <a:noFill/>
        </p:spPr>
        <p:txBody>
          <a:bodyPr wrap="none">
            <a:spAutoFit/>
          </a:bodyPr>
          <a:lstStyle/>
          <a:p>
            <a:pPr algn="r">
              <a:defRPr sz="1200">
                <a:solidFill>
                  <a:srgbClr val="FFFFFF"/>
                </a:solidFill>
                <a:latin typeface="Aptos"/>
              </a:defRPr>
            </a:pPr>
            <a:r>
              <a:t>13</a:t>
            </a:r>
          </a:p>
        </p:txBody>
      </p:sp>
      <p:sp>
        <p:nvSpPr>
          <p:cNvPr id="5" name="Rounded Rectangle 4"/>
          <p:cNvSpPr/>
          <p:nvPr/>
        </p:nvSpPr>
        <p:spPr>
          <a:xfrm>
            <a:off x="438912" y="932688"/>
            <a:ext cx="7223760" cy="5468112"/>
          </a:xfrm>
          <a:prstGeom prst="roundRect">
            <a:avLst/>
          </a:prstGeom>
          <a:solidFill>
            <a:srgbClr val="1B1E22"/>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 2026-10-03 044707.png"/>
          <p:cNvPicPr>
            <a:picLocks noChangeAspect="1"/>
          </p:cNvPicPr>
          <p:nvPr/>
        </p:nvPicPr>
        <p:blipFill>
          <a:blip r:embed="rId2"/>
          <a:stretch>
            <a:fillRect/>
          </a:stretch>
        </p:blipFill>
        <p:spPr>
          <a:xfrm>
            <a:off x="548640" y="2558079"/>
            <a:ext cx="6995160" cy="2208185"/>
          </a:xfrm>
          <a:prstGeom prst="rect">
            <a:avLst/>
          </a:prstGeom>
        </p:spPr>
      </p:pic>
      <p:sp>
        <p:nvSpPr>
          <p:cNvPr id="7" name="Rounded Rectangle 6"/>
          <p:cNvSpPr/>
          <p:nvPr/>
        </p:nvSpPr>
        <p:spPr>
          <a:xfrm>
            <a:off x="7818120" y="932688"/>
            <a:ext cx="3913632" cy="5468112"/>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74152" y="1188720"/>
            <a:ext cx="3401568" cy="411480"/>
          </a:xfrm>
          <a:prstGeom prst="rect">
            <a:avLst/>
          </a:prstGeom>
          <a:noFill/>
        </p:spPr>
        <p:txBody>
          <a:bodyPr wrap="none">
            <a:spAutoFit/>
          </a:bodyPr>
          <a:lstStyle/>
          <a:p>
            <a:pPr>
              <a:defRPr sz="1900" b="1">
                <a:solidFill>
                  <a:srgbClr val="2C66B0"/>
                </a:solidFill>
                <a:latin typeface="Aptos"/>
              </a:defRPr>
            </a:pPr>
            <a:r>
              <a:t>Penjelasan</a:t>
            </a:r>
          </a:p>
        </p:txBody>
      </p:sp>
      <p:sp>
        <p:nvSpPr>
          <p:cNvPr id="9" name="TextBox 8"/>
          <p:cNvSpPr txBox="1"/>
          <p:nvPr/>
        </p:nvSpPr>
        <p:spPr>
          <a:xfrm>
            <a:off x="8074152" y="1773936"/>
            <a:ext cx="3401568" cy="4325112"/>
          </a:xfrm>
          <a:prstGeom prst="rect">
            <a:avLst/>
          </a:prstGeom>
          <a:noFill/>
        </p:spPr>
        <p:txBody>
          <a:bodyPr wrap="square">
            <a:spAutoFit/>
          </a:bodyPr>
          <a:lstStyle/>
          <a:p>
            <a:pPr>
              <a:defRPr sz="1500">
                <a:solidFill>
                  <a:srgbClr val="212A36"/>
                </a:solidFill>
                <a:latin typeface="Aptos"/>
              </a:defRPr>
            </a:pPr>
            <a:r>
              <a:t>Status Rawat dibatasi pada dua kategori, yaitu Rawat Jalan dan Rawat Inap. Setelah pembersihan dan standardisasi, hasil validasi menunjukkan 0 status rawat tidak valid.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789920" cy="411480"/>
          </a:xfrm>
          <a:prstGeom prst="rect">
            <a:avLst/>
          </a:prstGeom>
          <a:noFill/>
        </p:spPr>
        <p:txBody>
          <a:bodyPr wrap="none">
            <a:spAutoFit/>
          </a:bodyPr>
          <a:lstStyle/>
          <a:p>
            <a:pPr>
              <a:defRPr sz="2400" b="1">
                <a:solidFill>
                  <a:srgbClr val="FFFFFF"/>
                </a:solidFill>
                <a:latin typeface="Aptos Display"/>
              </a:defRPr>
            </a:pPr>
            <a:r>
              <a:t>13. Deteksi Umur Tidak Valid</a:t>
            </a:r>
          </a:p>
        </p:txBody>
      </p:sp>
      <p:sp>
        <p:nvSpPr>
          <p:cNvPr id="4" name="TextBox 3"/>
          <p:cNvSpPr txBox="1"/>
          <p:nvPr/>
        </p:nvSpPr>
        <p:spPr>
          <a:xfrm>
            <a:off x="11201400" y="146304"/>
            <a:ext cx="457200" cy="320040"/>
          </a:xfrm>
          <a:prstGeom prst="rect">
            <a:avLst/>
          </a:prstGeom>
          <a:noFill/>
        </p:spPr>
        <p:txBody>
          <a:bodyPr wrap="none">
            <a:spAutoFit/>
          </a:bodyPr>
          <a:lstStyle/>
          <a:p>
            <a:pPr algn="r">
              <a:defRPr sz="1200">
                <a:solidFill>
                  <a:srgbClr val="FFFFFF"/>
                </a:solidFill>
                <a:latin typeface="Aptos"/>
              </a:defRPr>
            </a:pPr>
            <a:r>
              <a:t>14</a:t>
            </a:r>
          </a:p>
        </p:txBody>
      </p:sp>
      <p:sp>
        <p:nvSpPr>
          <p:cNvPr id="5" name="Rounded Rectangle 4"/>
          <p:cNvSpPr/>
          <p:nvPr/>
        </p:nvSpPr>
        <p:spPr>
          <a:xfrm>
            <a:off x="438912" y="932688"/>
            <a:ext cx="7223760" cy="5468112"/>
          </a:xfrm>
          <a:prstGeom prst="roundRect">
            <a:avLst/>
          </a:prstGeom>
          <a:solidFill>
            <a:srgbClr val="1B1E22"/>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 2026-10-03 044723.png"/>
          <p:cNvPicPr>
            <a:picLocks noChangeAspect="1"/>
          </p:cNvPicPr>
          <p:nvPr/>
        </p:nvPicPr>
        <p:blipFill>
          <a:blip r:embed="rId2"/>
          <a:stretch>
            <a:fillRect/>
          </a:stretch>
        </p:blipFill>
        <p:spPr>
          <a:xfrm>
            <a:off x="548640" y="2574463"/>
            <a:ext cx="6995160" cy="2175417"/>
          </a:xfrm>
          <a:prstGeom prst="rect">
            <a:avLst/>
          </a:prstGeom>
        </p:spPr>
      </p:pic>
      <p:sp>
        <p:nvSpPr>
          <p:cNvPr id="7" name="Rounded Rectangle 6"/>
          <p:cNvSpPr/>
          <p:nvPr/>
        </p:nvSpPr>
        <p:spPr>
          <a:xfrm>
            <a:off x="7818120" y="932688"/>
            <a:ext cx="3913632" cy="5468112"/>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74152" y="1188720"/>
            <a:ext cx="3401568" cy="411480"/>
          </a:xfrm>
          <a:prstGeom prst="rect">
            <a:avLst/>
          </a:prstGeom>
          <a:noFill/>
        </p:spPr>
        <p:txBody>
          <a:bodyPr wrap="none">
            <a:spAutoFit/>
          </a:bodyPr>
          <a:lstStyle/>
          <a:p>
            <a:pPr>
              <a:defRPr sz="1900" b="1">
                <a:solidFill>
                  <a:srgbClr val="2C66B0"/>
                </a:solidFill>
                <a:latin typeface="Aptos"/>
              </a:defRPr>
            </a:pPr>
            <a:r>
              <a:t>Penjelasan</a:t>
            </a:r>
          </a:p>
        </p:txBody>
      </p:sp>
      <p:sp>
        <p:nvSpPr>
          <p:cNvPr id="9" name="TextBox 8"/>
          <p:cNvSpPr txBox="1"/>
          <p:nvPr/>
        </p:nvSpPr>
        <p:spPr>
          <a:xfrm>
            <a:off x="8074152" y="1773936"/>
            <a:ext cx="3401568" cy="4325112"/>
          </a:xfrm>
          <a:prstGeom prst="rect">
            <a:avLst/>
          </a:prstGeom>
          <a:noFill/>
        </p:spPr>
        <p:txBody>
          <a:bodyPr wrap="square">
            <a:spAutoFit/>
          </a:bodyPr>
          <a:lstStyle/>
          <a:p>
            <a:pPr>
              <a:defRPr sz="1500">
                <a:solidFill>
                  <a:srgbClr val="212A36"/>
                </a:solidFill>
                <a:latin typeface="Aptos"/>
              </a:defRPr>
            </a:pPr>
            <a:r>
              <a:t>Rentang umur yang digunakan adalah 8–68 tahun. Pemeriksaan menemukan dua data di luar batas: PS014 berumur 73 tahun dan PS019 berumur -4 tahun. Karena umur sebenarnya tidak diketahui, kedua baris tersebut dikeluarkan dari dataset agar tidak memasukkan asumsi baru.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789920" cy="411480"/>
          </a:xfrm>
          <a:prstGeom prst="rect">
            <a:avLst/>
          </a:prstGeom>
          <a:noFill/>
        </p:spPr>
        <p:txBody>
          <a:bodyPr wrap="none">
            <a:spAutoFit/>
          </a:bodyPr>
          <a:lstStyle/>
          <a:p>
            <a:pPr>
              <a:defRPr sz="2400" b="1">
                <a:solidFill>
                  <a:srgbClr val="FFFFFF"/>
                </a:solidFill>
                <a:latin typeface="Aptos Display"/>
              </a:defRPr>
            </a:pPr>
            <a:r>
              <a:t>14. Dataset Hasil Data Cleansing</a:t>
            </a:r>
          </a:p>
        </p:txBody>
      </p:sp>
      <p:sp>
        <p:nvSpPr>
          <p:cNvPr id="4" name="TextBox 3"/>
          <p:cNvSpPr txBox="1"/>
          <p:nvPr/>
        </p:nvSpPr>
        <p:spPr>
          <a:xfrm>
            <a:off x="11201400" y="146304"/>
            <a:ext cx="457200" cy="320040"/>
          </a:xfrm>
          <a:prstGeom prst="rect">
            <a:avLst/>
          </a:prstGeom>
          <a:noFill/>
        </p:spPr>
        <p:txBody>
          <a:bodyPr wrap="none">
            <a:spAutoFit/>
          </a:bodyPr>
          <a:lstStyle/>
          <a:p>
            <a:pPr algn="r">
              <a:defRPr sz="1200">
                <a:solidFill>
                  <a:srgbClr val="FFFFFF"/>
                </a:solidFill>
                <a:latin typeface="Aptos"/>
              </a:defRPr>
            </a:pPr>
            <a:r>
              <a:t>15</a:t>
            </a:r>
          </a:p>
        </p:txBody>
      </p:sp>
      <p:sp>
        <p:nvSpPr>
          <p:cNvPr id="5" name="Rounded Rectangle 4"/>
          <p:cNvSpPr/>
          <p:nvPr/>
        </p:nvSpPr>
        <p:spPr>
          <a:xfrm>
            <a:off x="438912" y="932688"/>
            <a:ext cx="7223760" cy="5468112"/>
          </a:xfrm>
          <a:prstGeom prst="roundRect">
            <a:avLst/>
          </a:prstGeom>
          <a:solidFill>
            <a:srgbClr val="1B1E22"/>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 2026-10-03 045100.png"/>
          <p:cNvPicPr>
            <a:picLocks noChangeAspect="1"/>
          </p:cNvPicPr>
          <p:nvPr/>
        </p:nvPicPr>
        <p:blipFill>
          <a:blip r:embed="rId2"/>
          <a:stretch>
            <a:fillRect/>
          </a:stretch>
        </p:blipFill>
        <p:spPr>
          <a:xfrm>
            <a:off x="548640" y="1092521"/>
            <a:ext cx="6995160" cy="5139301"/>
          </a:xfrm>
          <a:prstGeom prst="rect">
            <a:avLst/>
          </a:prstGeom>
        </p:spPr>
      </p:pic>
      <p:sp>
        <p:nvSpPr>
          <p:cNvPr id="7" name="Rounded Rectangle 6"/>
          <p:cNvSpPr/>
          <p:nvPr/>
        </p:nvSpPr>
        <p:spPr>
          <a:xfrm>
            <a:off x="7818120" y="932688"/>
            <a:ext cx="3913632" cy="5468112"/>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74152" y="1188720"/>
            <a:ext cx="3401568" cy="411480"/>
          </a:xfrm>
          <a:prstGeom prst="rect">
            <a:avLst/>
          </a:prstGeom>
          <a:noFill/>
        </p:spPr>
        <p:txBody>
          <a:bodyPr wrap="none">
            <a:spAutoFit/>
          </a:bodyPr>
          <a:lstStyle/>
          <a:p>
            <a:pPr>
              <a:defRPr sz="1900" b="1">
                <a:solidFill>
                  <a:srgbClr val="2C66B0"/>
                </a:solidFill>
                <a:latin typeface="Aptos"/>
              </a:defRPr>
            </a:pPr>
            <a:r>
              <a:t>Penjelasan</a:t>
            </a:r>
          </a:p>
        </p:txBody>
      </p:sp>
      <p:sp>
        <p:nvSpPr>
          <p:cNvPr id="9" name="TextBox 8"/>
          <p:cNvSpPr txBox="1"/>
          <p:nvPr/>
        </p:nvSpPr>
        <p:spPr>
          <a:xfrm>
            <a:off x="8074152" y="1773936"/>
            <a:ext cx="3401568" cy="4325112"/>
          </a:xfrm>
          <a:prstGeom prst="rect">
            <a:avLst/>
          </a:prstGeom>
          <a:noFill/>
        </p:spPr>
        <p:txBody>
          <a:bodyPr wrap="square">
            <a:spAutoFit/>
          </a:bodyPr>
          <a:lstStyle/>
          <a:p>
            <a:pPr>
              <a:defRPr sz="1500">
                <a:solidFill>
                  <a:srgbClr val="212A36"/>
                </a:solidFill>
                <a:latin typeface="Aptos"/>
              </a:defRPr>
            </a:pPr>
            <a:r>
              <a:t>Setelah dua umur tidak valid dihapus dan index di-reset, dataset akhir berjumlah 27 data bersih. Dataset ini telah melalui penanganan missing value, penghapusan duplikat, standardisasi teks, koreksi typo, dan validasi rentang umur.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789920" cy="411480"/>
          </a:xfrm>
          <a:prstGeom prst="rect">
            <a:avLst/>
          </a:prstGeom>
          <a:noFill/>
        </p:spPr>
        <p:txBody>
          <a:bodyPr wrap="none">
            <a:spAutoFit/>
          </a:bodyPr>
          <a:lstStyle/>
          <a:p>
            <a:pPr>
              <a:defRPr sz="2400" b="1">
                <a:solidFill>
                  <a:srgbClr val="FFFFFF"/>
                </a:solidFill>
                <a:latin typeface="Aptos Display"/>
              </a:defRPr>
            </a:pPr>
            <a:r>
              <a:t>15. Menyimpan Dataset Bersih</a:t>
            </a:r>
          </a:p>
        </p:txBody>
      </p:sp>
      <p:sp>
        <p:nvSpPr>
          <p:cNvPr id="4" name="TextBox 3"/>
          <p:cNvSpPr txBox="1"/>
          <p:nvPr/>
        </p:nvSpPr>
        <p:spPr>
          <a:xfrm>
            <a:off x="11201400" y="146304"/>
            <a:ext cx="457200" cy="320040"/>
          </a:xfrm>
          <a:prstGeom prst="rect">
            <a:avLst/>
          </a:prstGeom>
          <a:noFill/>
        </p:spPr>
        <p:txBody>
          <a:bodyPr wrap="none">
            <a:spAutoFit/>
          </a:bodyPr>
          <a:lstStyle/>
          <a:p>
            <a:pPr algn="r">
              <a:defRPr sz="1200">
                <a:solidFill>
                  <a:srgbClr val="FFFFFF"/>
                </a:solidFill>
                <a:latin typeface="Aptos"/>
              </a:defRPr>
            </a:pPr>
            <a:r>
              <a:t>16</a:t>
            </a:r>
          </a:p>
        </p:txBody>
      </p:sp>
      <p:sp>
        <p:nvSpPr>
          <p:cNvPr id="5" name="Rounded Rectangle 4"/>
          <p:cNvSpPr/>
          <p:nvPr/>
        </p:nvSpPr>
        <p:spPr>
          <a:xfrm>
            <a:off x="438912" y="932688"/>
            <a:ext cx="7223760" cy="5468112"/>
          </a:xfrm>
          <a:prstGeom prst="roundRect">
            <a:avLst/>
          </a:prstGeom>
          <a:solidFill>
            <a:srgbClr val="1B1E22"/>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 2026-10-03 045124.png"/>
          <p:cNvPicPr>
            <a:picLocks noChangeAspect="1"/>
          </p:cNvPicPr>
          <p:nvPr/>
        </p:nvPicPr>
        <p:blipFill>
          <a:blip r:embed="rId2"/>
          <a:stretch>
            <a:fillRect/>
          </a:stretch>
        </p:blipFill>
        <p:spPr>
          <a:xfrm>
            <a:off x="548640" y="1471855"/>
            <a:ext cx="6995160" cy="4380632"/>
          </a:xfrm>
          <a:prstGeom prst="rect">
            <a:avLst/>
          </a:prstGeom>
        </p:spPr>
      </p:pic>
      <p:sp>
        <p:nvSpPr>
          <p:cNvPr id="7" name="Rounded Rectangle 6"/>
          <p:cNvSpPr/>
          <p:nvPr/>
        </p:nvSpPr>
        <p:spPr>
          <a:xfrm>
            <a:off x="7818120" y="932688"/>
            <a:ext cx="3913632" cy="5468112"/>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74152" y="1188720"/>
            <a:ext cx="3401568" cy="411480"/>
          </a:xfrm>
          <a:prstGeom prst="rect">
            <a:avLst/>
          </a:prstGeom>
          <a:noFill/>
        </p:spPr>
        <p:txBody>
          <a:bodyPr wrap="none">
            <a:spAutoFit/>
          </a:bodyPr>
          <a:lstStyle/>
          <a:p>
            <a:pPr>
              <a:defRPr sz="1900" b="1">
                <a:solidFill>
                  <a:srgbClr val="2C66B0"/>
                </a:solidFill>
                <a:latin typeface="Aptos"/>
              </a:defRPr>
            </a:pPr>
            <a:r>
              <a:t>Penjelasan</a:t>
            </a:r>
          </a:p>
        </p:txBody>
      </p:sp>
      <p:sp>
        <p:nvSpPr>
          <p:cNvPr id="9" name="TextBox 8"/>
          <p:cNvSpPr txBox="1"/>
          <p:nvPr/>
        </p:nvSpPr>
        <p:spPr>
          <a:xfrm>
            <a:off x="8074152" y="1773936"/>
            <a:ext cx="3401568" cy="4325112"/>
          </a:xfrm>
          <a:prstGeom prst="rect">
            <a:avLst/>
          </a:prstGeom>
          <a:noFill/>
        </p:spPr>
        <p:txBody>
          <a:bodyPr wrap="square">
            <a:spAutoFit/>
          </a:bodyPr>
          <a:lstStyle/>
          <a:p>
            <a:pPr>
              <a:defRPr sz="1500">
                <a:solidFill>
                  <a:srgbClr val="212A36"/>
                </a:solidFill>
                <a:latin typeface="Aptos"/>
              </a:defRPr>
            </a:pPr>
            <a:r>
              <a:t>Dataset akhir disimpan kembali ke Google Drive dalam format Excel menggunakan df.to_excel() dengan index=False. File tersimpan sebagai “Dataset_Pasien_Hasil_Cleansing.xlsx” sehingga dapat digunakan untuk analisis atau proses data mining berikutnya.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789920" cy="411480"/>
          </a:xfrm>
          <a:prstGeom prst="rect">
            <a:avLst/>
          </a:prstGeom>
          <a:noFill/>
        </p:spPr>
        <p:txBody>
          <a:bodyPr wrap="none">
            <a:spAutoFit/>
          </a:bodyPr>
          <a:lstStyle/>
          <a:p>
            <a:pPr>
              <a:defRPr sz="2400" b="1">
                <a:solidFill>
                  <a:srgbClr val="FFFFFF"/>
                </a:solidFill>
                <a:latin typeface="Aptos Display"/>
              </a:defRPr>
            </a:pPr>
            <a:r>
              <a:t>Ringkasan Hasil Data Cleansing</a:t>
            </a:r>
          </a:p>
        </p:txBody>
      </p:sp>
      <p:sp>
        <p:nvSpPr>
          <p:cNvPr id="4" name="TextBox 3"/>
          <p:cNvSpPr txBox="1"/>
          <p:nvPr/>
        </p:nvSpPr>
        <p:spPr>
          <a:xfrm>
            <a:off x="11201400" y="146304"/>
            <a:ext cx="457200" cy="320040"/>
          </a:xfrm>
          <a:prstGeom prst="rect">
            <a:avLst/>
          </a:prstGeom>
          <a:noFill/>
        </p:spPr>
        <p:txBody>
          <a:bodyPr wrap="none">
            <a:spAutoFit/>
          </a:bodyPr>
          <a:lstStyle/>
          <a:p>
            <a:pPr algn="r">
              <a:defRPr sz="1200">
                <a:solidFill>
                  <a:srgbClr val="FFFFFF"/>
                </a:solidFill>
                <a:latin typeface="Aptos"/>
              </a:defRPr>
            </a:pPr>
            <a:r>
              <a:t>17</a:t>
            </a:r>
          </a:p>
        </p:txBody>
      </p:sp>
      <p:sp>
        <p:nvSpPr>
          <p:cNvPr id="5" name="Rounded Rectangle 4"/>
          <p:cNvSpPr/>
          <p:nvPr/>
        </p:nvSpPr>
        <p:spPr>
          <a:xfrm>
            <a:off x="502920" y="1143000"/>
            <a:ext cx="2121408" cy="1417320"/>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53312"/>
            <a:ext cx="1938528" cy="502920"/>
          </a:xfrm>
          <a:prstGeom prst="rect">
            <a:avLst/>
          </a:prstGeom>
          <a:noFill/>
        </p:spPr>
        <p:txBody>
          <a:bodyPr wrap="none">
            <a:spAutoFit/>
          </a:bodyPr>
          <a:lstStyle/>
          <a:p>
            <a:pPr algn="ctr">
              <a:defRPr sz="3000" b="1">
                <a:solidFill>
                  <a:srgbClr val="2C66B0"/>
                </a:solidFill>
                <a:latin typeface="Aptos Display"/>
              </a:defRPr>
            </a:pPr>
            <a:r>
              <a:t>30</a:t>
            </a:r>
          </a:p>
        </p:txBody>
      </p:sp>
      <p:sp>
        <p:nvSpPr>
          <p:cNvPr id="7" name="TextBox 6"/>
          <p:cNvSpPr txBox="1"/>
          <p:nvPr/>
        </p:nvSpPr>
        <p:spPr>
          <a:xfrm>
            <a:off x="612648" y="1947672"/>
            <a:ext cx="1901952" cy="384048"/>
          </a:xfrm>
          <a:prstGeom prst="rect">
            <a:avLst/>
          </a:prstGeom>
          <a:noFill/>
        </p:spPr>
        <p:txBody>
          <a:bodyPr wrap="none">
            <a:spAutoFit/>
          </a:bodyPr>
          <a:lstStyle/>
          <a:p>
            <a:pPr algn="ctr">
              <a:defRPr sz="1200">
                <a:solidFill>
                  <a:srgbClr val="5B6878"/>
                </a:solidFill>
                <a:latin typeface="Aptos"/>
              </a:defRPr>
            </a:pPr>
            <a:r>
              <a:t>Data Awal</a:t>
            </a:r>
          </a:p>
        </p:txBody>
      </p:sp>
      <p:sp>
        <p:nvSpPr>
          <p:cNvPr id="8" name="Rounded Rectangle 7"/>
          <p:cNvSpPr/>
          <p:nvPr/>
        </p:nvSpPr>
        <p:spPr>
          <a:xfrm>
            <a:off x="2770632" y="1143000"/>
            <a:ext cx="2121408" cy="1417320"/>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62072" y="1353312"/>
            <a:ext cx="1938528" cy="502920"/>
          </a:xfrm>
          <a:prstGeom prst="rect">
            <a:avLst/>
          </a:prstGeom>
          <a:noFill/>
        </p:spPr>
        <p:txBody>
          <a:bodyPr wrap="none">
            <a:spAutoFit/>
          </a:bodyPr>
          <a:lstStyle/>
          <a:p>
            <a:pPr algn="ctr">
              <a:defRPr sz="3000" b="1">
                <a:solidFill>
                  <a:srgbClr val="2C66B0"/>
                </a:solidFill>
                <a:latin typeface="Aptos Display"/>
              </a:defRPr>
            </a:pPr>
            <a:r>
              <a:t>2</a:t>
            </a:r>
          </a:p>
        </p:txBody>
      </p:sp>
      <p:sp>
        <p:nvSpPr>
          <p:cNvPr id="10" name="TextBox 9"/>
          <p:cNvSpPr txBox="1"/>
          <p:nvPr/>
        </p:nvSpPr>
        <p:spPr>
          <a:xfrm>
            <a:off x="2880360" y="1947672"/>
            <a:ext cx="1901952" cy="384048"/>
          </a:xfrm>
          <a:prstGeom prst="rect">
            <a:avLst/>
          </a:prstGeom>
          <a:noFill/>
        </p:spPr>
        <p:txBody>
          <a:bodyPr wrap="none">
            <a:spAutoFit/>
          </a:bodyPr>
          <a:lstStyle/>
          <a:p>
            <a:pPr algn="ctr">
              <a:defRPr sz="1200">
                <a:solidFill>
                  <a:srgbClr val="5B6878"/>
                </a:solidFill>
                <a:latin typeface="Aptos"/>
              </a:defRPr>
            </a:pPr>
            <a:r>
              <a:t>Missing Value Ditangani</a:t>
            </a:r>
          </a:p>
        </p:txBody>
      </p:sp>
      <p:sp>
        <p:nvSpPr>
          <p:cNvPr id="11" name="Rounded Rectangle 10"/>
          <p:cNvSpPr/>
          <p:nvPr/>
        </p:nvSpPr>
        <p:spPr>
          <a:xfrm>
            <a:off x="5038344" y="1143000"/>
            <a:ext cx="2121408" cy="1417320"/>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9783" y="1353312"/>
            <a:ext cx="1938528" cy="502920"/>
          </a:xfrm>
          <a:prstGeom prst="rect">
            <a:avLst/>
          </a:prstGeom>
          <a:noFill/>
        </p:spPr>
        <p:txBody>
          <a:bodyPr wrap="none">
            <a:spAutoFit/>
          </a:bodyPr>
          <a:lstStyle/>
          <a:p>
            <a:pPr algn="ctr">
              <a:defRPr sz="3000" b="1">
                <a:solidFill>
                  <a:srgbClr val="2C66B0"/>
                </a:solidFill>
                <a:latin typeface="Aptos Display"/>
              </a:defRPr>
            </a:pPr>
            <a:r>
              <a:t>1</a:t>
            </a:r>
          </a:p>
        </p:txBody>
      </p:sp>
      <p:sp>
        <p:nvSpPr>
          <p:cNvPr id="13" name="TextBox 12"/>
          <p:cNvSpPr txBox="1"/>
          <p:nvPr/>
        </p:nvSpPr>
        <p:spPr>
          <a:xfrm>
            <a:off x="5148072" y="1947672"/>
            <a:ext cx="1901952" cy="384048"/>
          </a:xfrm>
          <a:prstGeom prst="rect">
            <a:avLst/>
          </a:prstGeom>
          <a:noFill/>
        </p:spPr>
        <p:txBody>
          <a:bodyPr wrap="none">
            <a:spAutoFit/>
          </a:bodyPr>
          <a:lstStyle/>
          <a:p>
            <a:pPr algn="ctr">
              <a:defRPr sz="1200">
                <a:solidFill>
                  <a:srgbClr val="5B6878"/>
                </a:solidFill>
                <a:latin typeface="Aptos"/>
              </a:defRPr>
            </a:pPr>
            <a:r>
              <a:t>Duplikat Dihapus</a:t>
            </a:r>
          </a:p>
        </p:txBody>
      </p:sp>
      <p:sp>
        <p:nvSpPr>
          <p:cNvPr id="14" name="Rounded Rectangle 13"/>
          <p:cNvSpPr/>
          <p:nvPr/>
        </p:nvSpPr>
        <p:spPr>
          <a:xfrm>
            <a:off x="7306056" y="1143000"/>
            <a:ext cx="2121408" cy="1417320"/>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97496" y="1353312"/>
            <a:ext cx="1938528" cy="502920"/>
          </a:xfrm>
          <a:prstGeom prst="rect">
            <a:avLst/>
          </a:prstGeom>
          <a:noFill/>
        </p:spPr>
        <p:txBody>
          <a:bodyPr wrap="none">
            <a:spAutoFit/>
          </a:bodyPr>
          <a:lstStyle/>
          <a:p>
            <a:pPr algn="ctr">
              <a:defRPr sz="3000" b="1">
                <a:solidFill>
                  <a:srgbClr val="2C66B0"/>
                </a:solidFill>
                <a:latin typeface="Aptos Display"/>
              </a:defRPr>
            </a:pPr>
            <a:r>
              <a:t>2</a:t>
            </a:r>
          </a:p>
        </p:txBody>
      </p:sp>
      <p:sp>
        <p:nvSpPr>
          <p:cNvPr id="16" name="TextBox 15"/>
          <p:cNvSpPr txBox="1"/>
          <p:nvPr/>
        </p:nvSpPr>
        <p:spPr>
          <a:xfrm>
            <a:off x="7415783" y="1947672"/>
            <a:ext cx="1901952" cy="384048"/>
          </a:xfrm>
          <a:prstGeom prst="rect">
            <a:avLst/>
          </a:prstGeom>
          <a:noFill/>
        </p:spPr>
        <p:txBody>
          <a:bodyPr wrap="none">
            <a:spAutoFit/>
          </a:bodyPr>
          <a:lstStyle/>
          <a:p>
            <a:pPr algn="ctr">
              <a:defRPr sz="1200">
                <a:solidFill>
                  <a:srgbClr val="5B6878"/>
                </a:solidFill>
                <a:latin typeface="Aptos"/>
              </a:defRPr>
            </a:pPr>
            <a:r>
              <a:t>Umur Tidak Valid Dihapus</a:t>
            </a:r>
          </a:p>
        </p:txBody>
      </p:sp>
      <p:sp>
        <p:nvSpPr>
          <p:cNvPr id="17" name="Rounded Rectangle 16"/>
          <p:cNvSpPr/>
          <p:nvPr/>
        </p:nvSpPr>
        <p:spPr>
          <a:xfrm>
            <a:off x="9573768" y="1143000"/>
            <a:ext cx="2121408" cy="1417320"/>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65208" y="1353312"/>
            <a:ext cx="1938528" cy="502920"/>
          </a:xfrm>
          <a:prstGeom prst="rect">
            <a:avLst/>
          </a:prstGeom>
          <a:noFill/>
        </p:spPr>
        <p:txBody>
          <a:bodyPr wrap="none">
            <a:spAutoFit/>
          </a:bodyPr>
          <a:lstStyle/>
          <a:p>
            <a:pPr algn="ctr">
              <a:defRPr sz="3000" b="1">
                <a:solidFill>
                  <a:srgbClr val="2C66B0"/>
                </a:solidFill>
                <a:latin typeface="Aptos Display"/>
              </a:defRPr>
            </a:pPr>
            <a:r>
              <a:t>27</a:t>
            </a:r>
          </a:p>
        </p:txBody>
      </p:sp>
      <p:sp>
        <p:nvSpPr>
          <p:cNvPr id="19" name="TextBox 18"/>
          <p:cNvSpPr txBox="1"/>
          <p:nvPr/>
        </p:nvSpPr>
        <p:spPr>
          <a:xfrm>
            <a:off x="9683496" y="1947672"/>
            <a:ext cx="1901952" cy="384048"/>
          </a:xfrm>
          <a:prstGeom prst="rect">
            <a:avLst/>
          </a:prstGeom>
          <a:noFill/>
        </p:spPr>
        <p:txBody>
          <a:bodyPr wrap="none">
            <a:spAutoFit/>
          </a:bodyPr>
          <a:lstStyle/>
          <a:p>
            <a:pPr algn="ctr">
              <a:defRPr sz="1200">
                <a:solidFill>
                  <a:srgbClr val="5B6878"/>
                </a:solidFill>
                <a:latin typeface="Aptos"/>
              </a:defRPr>
            </a:pPr>
            <a:r>
              <a:t>Data Bersih</a:t>
            </a:r>
          </a:p>
        </p:txBody>
      </p:sp>
      <p:sp>
        <p:nvSpPr>
          <p:cNvPr id="20" name="Rounded Rectangle 19"/>
          <p:cNvSpPr/>
          <p:nvPr/>
        </p:nvSpPr>
        <p:spPr>
          <a:xfrm>
            <a:off x="777240" y="3063240"/>
            <a:ext cx="10652760" cy="2468880"/>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78992" y="3364992"/>
            <a:ext cx="10058400" cy="1828800"/>
          </a:xfrm>
          <a:prstGeom prst="rect">
            <a:avLst/>
          </a:prstGeom>
          <a:noFill/>
        </p:spPr>
        <p:txBody>
          <a:bodyPr wrap="square">
            <a:spAutoFit/>
          </a:bodyPr>
          <a:lstStyle/>
          <a:p>
            <a:pPr>
              <a:defRPr sz="1900">
                <a:solidFill>
                  <a:srgbClr val="212A36"/>
                </a:solidFill>
                <a:latin typeface="Aptos"/>
              </a:defRPr>
            </a:pPr>
            <a:r>
              <a:t>Proses data cleansing menghasilkan dataset yang lebih konsisten dan siap digunakan. Missing value pada Umur dan Diagnosis ditangani melalui imputasi median dan modus, data duplikat dihapus, format teks diseragamkan, typo diagnosis diperbaiki, kategori divalidasi, dan dua umur di luar rentang 8–68 tahun dikeluarkan. Hasil akhir adalah 27 data pasien bersih.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253F"/>
        </a:solidFill>
        <a:effectLst/>
      </p:bgPr>
    </p:bg>
    <p:spTree>
      <p:nvGrpSpPr>
        <p:cNvPr id="1" name=""/>
        <p:cNvGrpSpPr/>
        <p:nvPr/>
      </p:nvGrpSpPr>
      <p:grpSpPr/>
      <p:sp>
        <p:nvSpPr>
          <p:cNvPr id="2" name="TextBox 1"/>
          <p:cNvSpPr txBox="1"/>
          <p:nvPr/>
        </p:nvSpPr>
        <p:spPr>
          <a:xfrm>
            <a:off x="914400" y="2011680"/>
            <a:ext cx="10332720" cy="1280160"/>
          </a:xfrm>
          <a:prstGeom prst="rect">
            <a:avLst/>
          </a:prstGeom>
          <a:noFill/>
        </p:spPr>
        <p:txBody>
          <a:bodyPr wrap="none">
            <a:spAutoFit/>
          </a:bodyPr>
          <a:lstStyle/>
          <a:p>
            <a:pPr algn="ctr">
              <a:defRPr sz="4000" b="1">
                <a:solidFill>
                  <a:srgbClr val="FFFFFF"/>
                </a:solidFill>
                <a:latin typeface="Aptos Display"/>
              </a:defRPr>
            </a:pPr>
            <a:r>
              <a:t>DATA ENRICHMENT</a:t>
            </a:r>
          </a:p>
        </p:txBody>
      </p:sp>
      <p:sp>
        <p:nvSpPr>
          <p:cNvPr id="3" name="TextBox 2"/>
          <p:cNvSpPr txBox="1"/>
          <p:nvPr/>
        </p:nvSpPr>
        <p:spPr>
          <a:xfrm>
            <a:off x="1371600" y="3383280"/>
            <a:ext cx="9418320" cy="731520"/>
          </a:xfrm>
          <a:prstGeom prst="rect">
            <a:avLst/>
          </a:prstGeom>
          <a:noFill/>
        </p:spPr>
        <p:txBody>
          <a:bodyPr wrap="none">
            <a:spAutoFit/>
          </a:bodyPr>
          <a:lstStyle/>
          <a:p>
            <a:pPr algn="ctr">
              <a:defRPr sz="2000">
                <a:solidFill>
                  <a:srgbClr val="C9DCF1"/>
                </a:solidFill>
                <a:latin typeface="Aptos"/>
              </a:defRPr>
            </a:pPr>
            <a:r>
              <a:t>Menambahkan informasi baru berupa Kelompok Umur pada dataset hasil cleansing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789920" cy="411480"/>
          </a:xfrm>
          <a:prstGeom prst="rect">
            <a:avLst/>
          </a:prstGeom>
          <a:noFill/>
        </p:spPr>
        <p:txBody>
          <a:bodyPr wrap="none">
            <a:spAutoFit/>
          </a:bodyPr>
          <a:lstStyle/>
          <a:p>
            <a:pPr>
              <a:defRPr sz="2400" b="1">
                <a:solidFill>
                  <a:srgbClr val="FFFFFF"/>
                </a:solidFill>
                <a:latin typeface="Aptos Display"/>
              </a:defRPr>
            </a:pPr>
            <a:r>
              <a:t>16. Membaca Dataset Hasil Cleansing</a:t>
            </a:r>
          </a:p>
        </p:txBody>
      </p:sp>
      <p:sp>
        <p:nvSpPr>
          <p:cNvPr id="4" name="TextBox 3"/>
          <p:cNvSpPr txBox="1"/>
          <p:nvPr/>
        </p:nvSpPr>
        <p:spPr>
          <a:xfrm>
            <a:off x="11201400" y="146304"/>
            <a:ext cx="457200" cy="320040"/>
          </a:xfrm>
          <a:prstGeom prst="rect">
            <a:avLst/>
          </a:prstGeom>
          <a:noFill/>
        </p:spPr>
        <p:txBody>
          <a:bodyPr wrap="none">
            <a:spAutoFit/>
          </a:bodyPr>
          <a:lstStyle/>
          <a:p>
            <a:pPr algn="r">
              <a:defRPr sz="1200">
                <a:solidFill>
                  <a:srgbClr val="FFFFFF"/>
                </a:solidFill>
                <a:latin typeface="Aptos"/>
              </a:defRPr>
            </a:pPr>
            <a:r>
              <a:t>19</a:t>
            </a:r>
          </a:p>
        </p:txBody>
      </p:sp>
      <p:sp>
        <p:nvSpPr>
          <p:cNvPr id="5" name="Rounded Rectangle 4"/>
          <p:cNvSpPr/>
          <p:nvPr/>
        </p:nvSpPr>
        <p:spPr>
          <a:xfrm>
            <a:off x="438912" y="932688"/>
            <a:ext cx="7223760" cy="5468112"/>
          </a:xfrm>
          <a:prstGeom prst="roundRect">
            <a:avLst/>
          </a:prstGeom>
          <a:solidFill>
            <a:srgbClr val="1B1E22"/>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 2026-10-03 051235.png"/>
          <p:cNvPicPr>
            <a:picLocks noChangeAspect="1"/>
          </p:cNvPicPr>
          <p:nvPr/>
        </p:nvPicPr>
        <p:blipFill>
          <a:blip r:embed="rId2"/>
          <a:stretch>
            <a:fillRect/>
          </a:stretch>
        </p:blipFill>
        <p:spPr>
          <a:xfrm>
            <a:off x="799926" y="1033271"/>
            <a:ext cx="6492586" cy="5257800"/>
          </a:xfrm>
          <a:prstGeom prst="rect">
            <a:avLst/>
          </a:prstGeom>
        </p:spPr>
      </p:pic>
      <p:sp>
        <p:nvSpPr>
          <p:cNvPr id="7" name="Rounded Rectangle 6"/>
          <p:cNvSpPr/>
          <p:nvPr/>
        </p:nvSpPr>
        <p:spPr>
          <a:xfrm>
            <a:off x="7818120" y="932688"/>
            <a:ext cx="3913632" cy="5468112"/>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74152" y="1188720"/>
            <a:ext cx="3383280" cy="411480"/>
          </a:xfrm>
          <a:prstGeom prst="rect">
            <a:avLst/>
          </a:prstGeom>
          <a:noFill/>
        </p:spPr>
        <p:txBody>
          <a:bodyPr wrap="none">
            <a:spAutoFit/>
          </a:bodyPr>
          <a:lstStyle/>
          <a:p>
            <a:pPr>
              <a:defRPr sz="1900" b="1">
                <a:solidFill>
                  <a:srgbClr val="2C66B0"/>
                </a:solidFill>
                <a:latin typeface="Aptos"/>
              </a:defRPr>
            </a:pPr>
            <a:r>
              <a:t>Penjelasan</a:t>
            </a:r>
          </a:p>
        </p:txBody>
      </p:sp>
      <p:sp>
        <p:nvSpPr>
          <p:cNvPr id="9" name="TextBox 8"/>
          <p:cNvSpPr txBox="1"/>
          <p:nvPr/>
        </p:nvSpPr>
        <p:spPr>
          <a:xfrm>
            <a:off x="8074152" y="1764792"/>
            <a:ext cx="3337560" cy="4251960"/>
          </a:xfrm>
          <a:prstGeom prst="rect">
            <a:avLst/>
          </a:prstGeom>
          <a:noFill/>
        </p:spPr>
        <p:txBody>
          <a:bodyPr wrap="none">
            <a:spAutoFit/>
          </a:bodyPr>
          <a:lstStyle/>
          <a:p>
            <a:pPr>
              <a:defRPr sz="1500">
                <a:solidFill>
                  <a:srgbClr val="212A36"/>
                </a:solidFill>
                <a:latin typeface="Aptos"/>
              </a:defRPr>
            </a:pPr>
            <a:r>
              <a:t>Data enrichment dimulai dari dataset yang sudah bersih. File Dataset_Pasien_Hasil_Cleansing.xlsx dibaca kembali menggunakan pandas.read_excel(). Dengan menggunakan data hasil cleansing, proses enrichment tidak membawa kembali missing value, duplikat, atau inkonsistensi yang sebelumnya sudah diperbaiki.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789920" cy="411480"/>
          </a:xfrm>
          <a:prstGeom prst="rect">
            <a:avLst/>
          </a:prstGeom>
          <a:noFill/>
        </p:spPr>
        <p:txBody>
          <a:bodyPr wrap="none">
            <a:spAutoFit/>
          </a:bodyPr>
          <a:lstStyle/>
          <a:p>
            <a:pPr>
              <a:defRPr sz="2400" b="1">
                <a:solidFill>
                  <a:srgbClr val="FFFFFF"/>
                </a:solidFill>
                <a:latin typeface="Aptos Display"/>
              </a:defRPr>
            </a:pPr>
            <a:r>
              <a:t>17. Menambahkan Atribut Kelompok Umur</a:t>
            </a:r>
          </a:p>
        </p:txBody>
      </p:sp>
      <p:sp>
        <p:nvSpPr>
          <p:cNvPr id="4" name="TextBox 3"/>
          <p:cNvSpPr txBox="1"/>
          <p:nvPr/>
        </p:nvSpPr>
        <p:spPr>
          <a:xfrm>
            <a:off x="11201400" y="146304"/>
            <a:ext cx="457200" cy="320040"/>
          </a:xfrm>
          <a:prstGeom prst="rect">
            <a:avLst/>
          </a:prstGeom>
          <a:noFill/>
        </p:spPr>
        <p:txBody>
          <a:bodyPr wrap="none">
            <a:spAutoFit/>
          </a:bodyPr>
          <a:lstStyle/>
          <a:p>
            <a:pPr algn="r">
              <a:defRPr sz="1200">
                <a:solidFill>
                  <a:srgbClr val="FFFFFF"/>
                </a:solidFill>
                <a:latin typeface="Aptos"/>
              </a:defRPr>
            </a:pPr>
            <a:r>
              <a:t>20</a:t>
            </a:r>
          </a:p>
        </p:txBody>
      </p:sp>
      <p:sp>
        <p:nvSpPr>
          <p:cNvPr id="5" name="Rounded Rectangle 4"/>
          <p:cNvSpPr/>
          <p:nvPr/>
        </p:nvSpPr>
        <p:spPr>
          <a:xfrm>
            <a:off x="438912" y="932688"/>
            <a:ext cx="7223760" cy="5468112"/>
          </a:xfrm>
          <a:prstGeom prst="roundRect">
            <a:avLst/>
          </a:prstGeom>
          <a:solidFill>
            <a:srgbClr val="1B1E22"/>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 2026-10-03 051245.png"/>
          <p:cNvPicPr>
            <a:picLocks noChangeAspect="1"/>
          </p:cNvPicPr>
          <p:nvPr/>
        </p:nvPicPr>
        <p:blipFill>
          <a:blip r:embed="rId2"/>
          <a:stretch>
            <a:fillRect/>
          </a:stretch>
        </p:blipFill>
        <p:spPr>
          <a:xfrm>
            <a:off x="548640" y="1283960"/>
            <a:ext cx="6995160" cy="4756422"/>
          </a:xfrm>
          <a:prstGeom prst="rect">
            <a:avLst/>
          </a:prstGeom>
        </p:spPr>
      </p:pic>
      <p:sp>
        <p:nvSpPr>
          <p:cNvPr id="7" name="Rounded Rectangle 6"/>
          <p:cNvSpPr/>
          <p:nvPr/>
        </p:nvSpPr>
        <p:spPr>
          <a:xfrm>
            <a:off x="7818120" y="932688"/>
            <a:ext cx="3913632" cy="5468112"/>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74152" y="1188720"/>
            <a:ext cx="3383280" cy="411480"/>
          </a:xfrm>
          <a:prstGeom prst="rect">
            <a:avLst/>
          </a:prstGeom>
          <a:noFill/>
        </p:spPr>
        <p:txBody>
          <a:bodyPr wrap="none">
            <a:spAutoFit/>
          </a:bodyPr>
          <a:lstStyle/>
          <a:p>
            <a:pPr>
              <a:defRPr sz="1900" b="1">
                <a:solidFill>
                  <a:srgbClr val="2C66B0"/>
                </a:solidFill>
                <a:latin typeface="Aptos"/>
              </a:defRPr>
            </a:pPr>
            <a:r>
              <a:t>Penjelasan</a:t>
            </a:r>
          </a:p>
        </p:txBody>
      </p:sp>
      <p:sp>
        <p:nvSpPr>
          <p:cNvPr id="9" name="TextBox 8"/>
          <p:cNvSpPr txBox="1"/>
          <p:nvPr/>
        </p:nvSpPr>
        <p:spPr>
          <a:xfrm>
            <a:off x="8074152" y="1764792"/>
            <a:ext cx="3337560" cy="4251960"/>
          </a:xfrm>
          <a:prstGeom prst="rect">
            <a:avLst/>
          </a:prstGeom>
          <a:noFill/>
        </p:spPr>
        <p:txBody>
          <a:bodyPr wrap="none">
            <a:spAutoFit/>
          </a:bodyPr>
          <a:lstStyle/>
          <a:p>
            <a:pPr>
              <a:defRPr sz="1500">
                <a:solidFill>
                  <a:srgbClr val="212A36"/>
                </a:solidFill>
                <a:latin typeface="Aptos"/>
              </a:defRPr>
            </a:pPr>
            <a:r>
              <a:t>Fungsi kelompok_umur() membentuk informasi baru dari atribut Umur. Untuk latihan ini, umur dikelompokkan menjadi Anak (≤12), Remaja (13–17), Dewasa (18–59), dan Lansia (≥60). Fungsi kemudian diterapkan dengan apply() sehingga muncul kolom baru bernama Kelompok Umur. Inilah proses utama data enrichment.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789920" cy="411480"/>
          </a:xfrm>
          <a:prstGeom prst="rect">
            <a:avLst/>
          </a:prstGeom>
          <a:noFill/>
        </p:spPr>
        <p:txBody>
          <a:bodyPr wrap="none">
            <a:spAutoFit/>
          </a:bodyPr>
          <a:lstStyle/>
          <a:p>
            <a:pPr>
              <a:defRPr sz="2400" b="1">
                <a:solidFill>
                  <a:srgbClr val="FFFFFF"/>
                </a:solidFill>
                <a:latin typeface="Aptos Display"/>
              </a:defRPr>
            </a:pPr>
            <a:r>
              <a:t>18. Distribusi dan Penyimpanan Hasil Enrichment</a:t>
            </a:r>
          </a:p>
        </p:txBody>
      </p:sp>
      <p:sp>
        <p:nvSpPr>
          <p:cNvPr id="4" name="TextBox 3"/>
          <p:cNvSpPr txBox="1"/>
          <p:nvPr/>
        </p:nvSpPr>
        <p:spPr>
          <a:xfrm>
            <a:off x="11201400" y="146304"/>
            <a:ext cx="457200" cy="320040"/>
          </a:xfrm>
          <a:prstGeom prst="rect">
            <a:avLst/>
          </a:prstGeom>
          <a:noFill/>
        </p:spPr>
        <p:txBody>
          <a:bodyPr wrap="none">
            <a:spAutoFit/>
          </a:bodyPr>
          <a:lstStyle/>
          <a:p>
            <a:pPr algn="r">
              <a:defRPr sz="1200">
                <a:solidFill>
                  <a:srgbClr val="FFFFFF"/>
                </a:solidFill>
                <a:latin typeface="Aptos"/>
              </a:defRPr>
            </a:pPr>
            <a:r>
              <a:t>21</a:t>
            </a:r>
          </a:p>
        </p:txBody>
      </p:sp>
      <p:sp>
        <p:nvSpPr>
          <p:cNvPr id="5" name="Rounded Rectangle 4"/>
          <p:cNvSpPr/>
          <p:nvPr/>
        </p:nvSpPr>
        <p:spPr>
          <a:xfrm>
            <a:off x="438912" y="932688"/>
            <a:ext cx="7223760" cy="5468112"/>
          </a:xfrm>
          <a:prstGeom prst="roundRect">
            <a:avLst/>
          </a:prstGeom>
          <a:solidFill>
            <a:srgbClr val="1B1E22"/>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 2026-10-03 051253.png"/>
          <p:cNvPicPr>
            <a:picLocks noChangeAspect="1"/>
          </p:cNvPicPr>
          <p:nvPr/>
        </p:nvPicPr>
        <p:blipFill>
          <a:blip r:embed="rId2"/>
          <a:stretch>
            <a:fillRect/>
          </a:stretch>
        </p:blipFill>
        <p:spPr>
          <a:xfrm>
            <a:off x="677449" y="1033271"/>
            <a:ext cx="6737540" cy="5257800"/>
          </a:xfrm>
          <a:prstGeom prst="rect">
            <a:avLst/>
          </a:prstGeom>
        </p:spPr>
      </p:pic>
      <p:sp>
        <p:nvSpPr>
          <p:cNvPr id="7" name="Rounded Rectangle 6"/>
          <p:cNvSpPr/>
          <p:nvPr/>
        </p:nvSpPr>
        <p:spPr>
          <a:xfrm>
            <a:off x="7818120" y="932688"/>
            <a:ext cx="3913632" cy="5468112"/>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74152" y="1188720"/>
            <a:ext cx="3383280" cy="411480"/>
          </a:xfrm>
          <a:prstGeom prst="rect">
            <a:avLst/>
          </a:prstGeom>
          <a:noFill/>
        </p:spPr>
        <p:txBody>
          <a:bodyPr wrap="none">
            <a:spAutoFit/>
          </a:bodyPr>
          <a:lstStyle/>
          <a:p>
            <a:pPr>
              <a:defRPr sz="1900" b="1">
                <a:solidFill>
                  <a:srgbClr val="2C66B0"/>
                </a:solidFill>
                <a:latin typeface="Aptos"/>
              </a:defRPr>
            </a:pPr>
            <a:r>
              <a:t>Penjelasan</a:t>
            </a:r>
          </a:p>
        </p:txBody>
      </p:sp>
      <p:sp>
        <p:nvSpPr>
          <p:cNvPr id="9" name="TextBox 8"/>
          <p:cNvSpPr txBox="1"/>
          <p:nvPr/>
        </p:nvSpPr>
        <p:spPr>
          <a:xfrm>
            <a:off x="8074152" y="1764792"/>
            <a:ext cx="3337560" cy="4251960"/>
          </a:xfrm>
          <a:prstGeom prst="rect">
            <a:avLst/>
          </a:prstGeom>
          <a:noFill/>
        </p:spPr>
        <p:txBody>
          <a:bodyPr wrap="none">
            <a:spAutoFit/>
          </a:bodyPr>
          <a:lstStyle/>
          <a:p>
            <a:pPr>
              <a:defRPr sz="1500">
                <a:solidFill>
                  <a:srgbClr val="212A36"/>
                </a:solidFill>
                <a:latin typeface="Aptos"/>
              </a:defRPr>
            </a:pPr>
            <a:r>
              <a:t>value_counts() digunakan untuk melihat distribusi pasien berdasarkan Kelompok Umur. Hasilnya terdiri dari 21 Dewasa, 3 Lansia, 2 Remaja, dan 1 Anak. Dataset yang telah diperkaya kemudian disimpan ke Google Drive sebagai Dataset_Pasien_Hasil_Enrichment.xlsx.</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789920" cy="411480"/>
          </a:xfrm>
          <a:prstGeom prst="rect">
            <a:avLst/>
          </a:prstGeom>
          <a:noFill/>
        </p:spPr>
        <p:txBody>
          <a:bodyPr wrap="none">
            <a:spAutoFit/>
          </a:bodyPr>
          <a:lstStyle/>
          <a:p>
            <a:pPr>
              <a:defRPr sz="2400" b="1">
                <a:solidFill>
                  <a:srgbClr val="FFFFFF"/>
                </a:solidFill>
                <a:latin typeface="Aptos Display"/>
              </a:defRPr>
            </a:pPr>
            <a:r>
              <a:t>Kesimpulan Proses Data</a:t>
            </a:r>
          </a:p>
        </p:txBody>
      </p:sp>
      <p:sp>
        <p:nvSpPr>
          <p:cNvPr id="4" name="TextBox 3"/>
          <p:cNvSpPr txBox="1"/>
          <p:nvPr/>
        </p:nvSpPr>
        <p:spPr>
          <a:xfrm>
            <a:off x="11201400" y="146304"/>
            <a:ext cx="457200" cy="320040"/>
          </a:xfrm>
          <a:prstGeom prst="rect">
            <a:avLst/>
          </a:prstGeom>
          <a:noFill/>
        </p:spPr>
        <p:txBody>
          <a:bodyPr wrap="none">
            <a:spAutoFit/>
          </a:bodyPr>
          <a:lstStyle/>
          <a:p>
            <a:pPr algn="r">
              <a:defRPr sz="1200">
                <a:solidFill>
                  <a:srgbClr val="FFFFFF"/>
                </a:solidFill>
                <a:latin typeface="Aptos"/>
              </a:defRPr>
            </a:pPr>
            <a:r>
              <a:t>22</a:t>
            </a:r>
          </a:p>
        </p:txBody>
      </p:sp>
      <p:sp>
        <p:nvSpPr>
          <p:cNvPr id="5" name="Rounded Rectangle 4"/>
          <p:cNvSpPr/>
          <p:nvPr/>
        </p:nvSpPr>
        <p:spPr>
          <a:xfrm>
            <a:off x="731520" y="1234440"/>
            <a:ext cx="2514600" cy="1463040"/>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81328"/>
            <a:ext cx="2331720" cy="502920"/>
          </a:xfrm>
          <a:prstGeom prst="rect">
            <a:avLst/>
          </a:prstGeom>
          <a:noFill/>
        </p:spPr>
        <p:txBody>
          <a:bodyPr wrap="none">
            <a:spAutoFit/>
          </a:bodyPr>
          <a:lstStyle/>
          <a:p>
            <a:pPr algn="ctr">
              <a:defRPr sz="2900" b="1">
                <a:solidFill>
                  <a:srgbClr val="2C66B0"/>
                </a:solidFill>
                <a:latin typeface="Aptos Display"/>
              </a:defRPr>
            </a:pPr>
            <a:r>
              <a:t>30</a:t>
            </a:r>
          </a:p>
        </p:txBody>
      </p:sp>
      <p:sp>
        <p:nvSpPr>
          <p:cNvPr id="7" name="TextBox 6"/>
          <p:cNvSpPr txBox="1"/>
          <p:nvPr/>
        </p:nvSpPr>
        <p:spPr>
          <a:xfrm>
            <a:off x="822960" y="2103120"/>
            <a:ext cx="2331720" cy="320040"/>
          </a:xfrm>
          <a:prstGeom prst="rect">
            <a:avLst/>
          </a:prstGeom>
          <a:noFill/>
        </p:spPr>
        <p:txBody>
          <a:bodyPr wrap="none">
            <a:spAutoFit/>
          </a:bodyPr>
          <a:lstStyle/>
          <a:p>
            <a:pPr algn="ctr">
              <a:defRPr sz="1200">
                <a:solidFill>
                  <a:srgbClr val="5B6878"/>
                </a:solidFill>
                <a:latin typeface="Aptos"/>
              </a:defRPr>
            </a:pPr>
            <a:r>
              <a:t>Data awal</a:t>
            </a:r>
          </a:p>
        </p:txBody>
      </p:sp>
      <p:sp>
        <p:nvSpPr>
          <p:cNvPr id="8" name="Rounded Rectangle 7"/>
          <p:cNvSpPr/>
          <p:nvPr/>
        </p:nvSpPr>
        <p:spPr>
          <a:xfrm>
            <a:off x="3474720" y="1234440"/>
            <a:ext cx="2514600" cy="1463040"/>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0" y="1481328"/>
            <a:ext cx="2331720" cy="502920"/>
          </a:xfrm>
          <a:prstGeom prst="rect">
            <a:avLst/>
          </a:prstGeom>
          <a:noFill/>
        </p:spPr>
        <p:txBody>
          <a:bodyPr wrap="none">
            <a:spAutoFit/>
          </a:bodyPr>
          <a:lstStyle/>
          <a:p>
            <a:pPr algn="ctr">
              <a:defRPr sz="2900" b="1">
                <a:solidFill>
                  <a:srgbClr val="2C66B0"/>
                </a:solidFill>
                <a:latin typeface="Aptos Display"/>
              </a:defRPr>
            </a:pPr>
            <a:r>
              <a:t>27</a:t>
            </a:r>
          </a:p>
        </p:txBody>
      </p:sp>
      <p:sp>
        <p:nvSpPr>
          <p:cNvPr id="10" name="TextBox 9"/>
          <p:cNvSpPr txBox="1"/>
          <p:nvPr/>
        </p:nvSpPr>
        <p:spPr>
          <a:xfrm>
            <a:off x="3566160" y="2103120"/>
            <a:ext cx="2331720" cy="320040"/>
          </a:xfrm>
          <a:prstGeom prst="rect">
            <a:avLst/>
          </a:prstGeom>
          <a:noFill/>
        </p:spPr>
        <p:txBody>
          <a:bodyPr wrap="none">
            <a:spAutoFit/>
          </a:bodyPr>
          <a:lstStyle/>
          <a:p>
            <a:pPr algn="ctr">
              <a:defRPr sz="1200">
                <a:solidFill>
                  <a:srgbClr val="5B6878"/>
                </a:solidFill>
                <a:latin typeface="Aptos"/>
              </a:defRPr>
            </a:pPr>
            <a:r>
              <a:t>Data setelah cleansing</a:t>
            </a:r>
          </a:p>
        </p:txBody>
      </p:sp>
      <p:sp>
        <p:nvSpPr>
          <p:cNvPr id="11" name="Rounded Rectangle 10"/>
          <p:cNvSpPr/>
          <p:nvPr/>
        </p:nvSpPr>
        <p:spPr>
          <a:xfrm>
            <a:off x="6217920" y="1234440"/>
            <a:ext cx="2514600" cy="1463040"/>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59" y="1481328"/>
            <a:ext cx="2331720" cy="502920"/>
          </a:xfrm>
          <a:prstGeom prst="rect">
            <a:avLst/>
          </a:prstGeom>
          <a:noFill/>
        </p:spPr>
        <p:txBody>
          <a:bodyPr wrap="none">
            <a:spAutoFit/>
          </a:bodyPr>
          <a:lstStyle/>
          <a:p>
            <a:pPr algn="ctr">
              <a:defRPr sz="2900" b="1">
                <a:solidFill>
                  <a:srgbClr val="2C66B0"/>
                </a:solidFill>
                <a:latin typeface="Aptos Display"/>
              </a:defRPr>
            </a:pPr>
            <a:r>
              <a:t>5 → 6</a:t>
            </a:r>
          </a:p>
        </p:txBody>
      </p:sp>
      <p:sp>
        <p:nvSpPr>
          <p:cNvPr id="13" name="TextBox 12"/>
          <p:cNvSpPr txBox="1"/>
          <p:nvPr/>
        </p:nvSpPr>
        <p:spPr>
          <a:xfrm>
            <a:off x="6309359" y="2103120"/>
            <a:ext cx="2331720" cy="320040"/>
          </a:xfrm>
          <a:prstGeom prst="rect">
            <a:avLst/>
          </a:prstGeom>
          <a:noFill/>
        </p:spPr>
        <p:txBody>
          <a:bodyPr wrap="none">
            <a:spAutoFit/>
          </a:bodyPr>
          <a:lstStyle/>
          <a:p>
            <a:pPr algn="ctr">
              <a:defRPr sz="1200">
                <a:solidFill>
                  <a:srgbClr val="5B6878"/>
                </a:solidFill>
                <a:latin typeface="Aptos"/>
              </a:defRPr>
            </a:pPr>
            <a:r>
              <a:t>Jumlah atribut</a:t>
            </a:r>
          </a:p>
        </p:txBody>
      </p:sp>
      <p:sp>
        <p:nvSpPr>
          <p:cNvPr id="14" name="Rounded Rectangle 13"/>
          <p:cNvSpPr/>
          <p:nvPr/>
        </p:nvSpPr>
        <p:spPr>
          <a:xfrm>
            <a:off x="8961120" y="1234440"/>
            <a:ext cx="2514600" cy="1463040"/>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60" y="1481328"/>
            <a:ext cx="2331720" cy="502920"/>
          </a:xfrm>
          <a:prstGeom prst="rect">
            <a:avLst/>
          </a:prstGeom>
          <a:noFill/>
        </p:spPr>
        <p:txBody>
          <a:bodyPr wrap="none">
            <a:spAutoFit/>
          </a:bodyPr>
          <a:lstStyle/>
          <a:p>
            <a:pPr algn="ctr">
              <a:defRPr sz="2900" b="1">
                <a:solidFill>
                  <a:srgbClr val="2C66B0"/>
                </a:solidFill>
                <a:latin typeface="Aptos Display"/>
              </a:defRPr>
            </a:pPr>
            <a:r>
              <a:t>1</a:t>
            </a:r>
          </a:p>
        </p:txBody>
      </p:sp>
      <p:sp>
        <p:nvSpPr>
          <p:cNvPr id="16" name="TextBox 15"/>
          <p:cNvSpPr txBox="1"/>
          <p:nvPr/>
        </p:nvSpPr>
        <p:spPr>
          <a:xfrm>
            <a:off x="9052560" y="2103120"/>
            <a:ext cx="2331720" cy="320040"/>
          </a:xfrm>
          <a:prstGeom prst="rect">
            <a:avLst/>
          </a:prstGeom>
          <a:noFill/>
        </p:spPr>
        <p:txBody>
          <a:bodyPr wrap="none">
            <a:spAutoFit/>
          </a:bodyPr>
          <a:lstStyle/>
          <a:p>
            <a:pPr algn="ctr">
              <a:defRPr sz="1200">
                <a:solidFill>
                  <a:srgbClr val="5B6878"/>
                </a:solidFill>
                <a:latin typeface="Aptos"/>
              </a:defRPr>
            </a:pPr>
            <a:r>
              <a:t>Atribut enrichment</a:t>
            </a:r>
          </a:p>
        </p:txBody>
      </p:sp>
      <p:sp>
        <p:nvSpPr>
          <p:cNvPr id="17" name="Rounded Rectangle 16"/>
          <p:cNvSpPr/>
          <p:nvPr/>
        </p:nvSpPr>
        <p:spPr>
          <a:xfrm>
            <a:off x="914400" y="3246120"/>
            <a:ext cx="10332720" cy="2240280"/>
          </a:xfrm>
          <a:prstGeom prst="roundRect">
            <a:avLst/>
          </a:prstGeom>
          <a:solidFill>
            <a:srgbClr val="FFFFFF"/>
          </a:solidFill>
          <a:ln>
            <a:solidFill>
              <a:srgbClr val="D3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34440" y="3566160"/>
            <a:ext cx="9692640" cy="1554480"/>
          </a:xfrm>
          <a:prstGeom prst="rect">
            <a:avLst/>
          </a:prstGeom>
          <a:noFill/>
        </p:spPr>
        <p:txBody>
          <a:bodyPr wrap="none">
            <a:spAutoFit/>
          </a:bodyPr>
          <a:lstStyle/>
          <a:p>
            <a:pPr>
              <a:defRPr sz="1800">
                <a:solidFill>
                  <a:srgbClr val="212A36"/>
                </a:solidFill>
                <a:latin typeface="Aptos"/>
              </a:defRPr>
            </a:pPr>
            <a:r>
              <a:t>Data cleansing memperbaiki kualitas dataset melalui penanganan missing value, duplikat, inkonsistensi teks, typo, dan umur tidak valid. Setelah dataset menjadi bersih, data enrichment menambahkan atribut Kelompok Umur agar informasi pasien lebih mudah dikelompokkan dan dianalisis. Dataset akhir tetap berisi 27 pasien, tetapi jumlah atribut bertambah dari 5 menjadi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